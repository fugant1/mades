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  <p:sldId id="273" r:id="rId24"/>
    <p:sldId id="274" r:id="rId25"/>
    <p:sldId id="275" r:id="rId2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Esta apresentação cobre só a etapa de dados: como unificamos as duas trilhas do projeto (mercado e macro de um lado, notícias do GDELT do outro) e o que a análise exploratória mostrou. A pergunta que guia tudo é se as notícias ajudam a prever o Bitcoin. A modelagem fica para a próxima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roteiro segue o notebook integrated_eda. Primeiro garantimos que a base é confiável. Depois entendemos o Bitcoin e os mercados, que é o pano de fundo. Em seguida olhamos as notícias como uma série em si. Por fim, cruzamos as duas trilhas para responder a pergunta central. Todas as hipóteses têm teste formal; quando há muitos testes simultâneos, usamos a correção de Holm.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ideia que o grupo tinha desde o início: os dados de mercado e macro explicariam a volatilidade, e o sentimento das notícias daria a direção, que os dados estruturados não trazem. A EDA é a primeira verificação dessa tese: se as notícias só reagem ao preço, a metade de baixo já fica em dúvida antes de qualquer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duas trilhas. A estruturada tem 43 séries de mercado e macro de 2016 a 2025. A não estruturada tem 79 mil notícias sobre bitcoin de quatro veículos, com o tom e os temas calculados pelo próprio GDELT. O desafio da unificação é que cada grupo tem uma frequência real diferente: o BTC negocia todo dia, as bolsas só em dias úteis, juros e inflação mudam uma vez por mês, e as notícias são contínuas. Por isso, comparações de retorno com bolsas usam só dias úteis, e juros e CPI são analisados em frequência mensal.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achado mais importante da auditoria. Sem a correção, qualquer modelo veria a inflação cerca de 45 dias antes da divulgação, e isso apareceria como um falso poder preditivo das variáveis macro. Corrigimos deslocando cada série pela sua defasagem de publicação, com valores conservadores. As séries diárias do FRED ficaram com 1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pipeline agora roda de ponta a ponta a partir do HuggingFace: a base estruturada e as duas coletas de notícias são baixadas por load_from_hf_struc e load_from_hf_nstruc, e o main.py gera a base integrada. A decisão de fuso é o que garante que não há vazamento: o candle diário do BTC vai de 00h a 24h UTC, o GDELT está em UTC e a última bolsa a fechar fecha antes das 24h. Antes de 2017 não há notícias, então 2016 serve só de aquecimento para as médias móveis.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de partida: o BTC valorizou cerca de 200 vezes, mas com volatilidade de quase 70% ao ano e duas quedas acima de 75%. A volatilidade vem caindo: ficou entre 68% e 94% ao ano até 2021 e entre 42% e 53% de 2023 a 2025. Isso importa porque um modelo treinado nos anos turbulentos superestima o risco recente.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propriedades que definem o problema. H1: a distribuição tem caudas muito pesadas, então usamos testes não paramétricos daqui em diante. H2: a autocorrelação dos retornos fica dentro da faixa de ruído, mas a dos retornos ao quadrado é forte: dias turbulentos vêm seguidos de dias turbulentos. É a volatilidade que é previsível, não a direção. Isso define a barra para as notícias: na direção, quase nada é previsível; na volatilidade, o próprio passado já explica muito. H3: no fim de semana o BTC oscila menos, o que vai reaparecer no volume de notícias.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2020 o BTC era praticamente descorrelacionado de tudo. A partir da pandemia, com a entrada de investidores institucionais, ele passa a andar com todas as bolsas e contra o dólar, com pico no aperto monetário de 2022. Para as notícias isso tem duas consequências: a relação com elas também pode ter mudado em 2020, e parte do que move o BTC depois de 2020 é o apetite global por risco, que não aparece em notícias sobre bitcoin.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não basta correlacionar as séries como estão: em nível, o BTC parece ter correlação de 0,93 com a inflação americana e positiva com os juros, só porque todas essas séries sobem com o tempo. Em variações mensais quase tudo some, e só a Nasdaq continua. A mesma armadilha vale para as notícias: o número de notícias tem tendências causadas pela coleta, então ele é usado em z-score.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cruzar notícias com preço, olhamos a série em si. O pico do fim de 2017 é real: é a bolha. Mas boa parte da variação vem da indexação do GDELT, e não da mídia: a CoinDesk tem zero notícias por 25 meses, a Reuters some no fim de 2022 e a Cointelegraph some em 2025. Uma queda de volume nesses períodos é mudança de cobertura, não desinteresse. Por isso o volume é usado relativo ao próprio passado recente.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H5. O tom do GDELT é calculado por dicionário, e cada veículo tem um estilo: Bloomberg e Reuters são bem mais negativas que os sites cripto. Como a composição de fontes muda muito entre os anos, o tom bruto cairia artificialmente quando as fontes tradicionais pesam mais. O ajuste subtrai a média de cada fonte calculada só com o passado, então não usa informação futura, e reduz o efeito da fonte em cerca de 80%. A diferença que resta é pequena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tom ajustado acompanha os grandes episódios: os meses mais negativos são o colapso da FTX e o crash da COVID, e os mais positivos são a alta do fim de 2020 e início de 2021. Os dez dias com mais notícias estão todos na bolha de 2017 e 2018, e em nove deles o BTC tinha acabado de se mover muito. É uma primeira pista de que a mídia reage. Em frequência mensal, a correlação entre tom e retorno é fraca e não significativa (ρ ≈ 0,16, p ≈ 0,10).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ciclo semanal das notícias é muito mais forte que o do BTC: no fim de semana sai cerca de um quarto das notícias de um dia útil. Como o BTC também oscila menos no fim de semana, qualquer correlação entre atenção e volatilidade terá um componente de calendário, e por isso o fim de semana entra como controle nas análises seguintes. À direita, os temas mais específicos: regulação e governança têm o tom mais negativo; mineração, o mais 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cruza as features de notícias, as mesmas que entram na modelagem, com variáveis do BTC e com os alvos do dia seguinte. As relações significativas se concentram em dois padrões: a atenção da mídia acompanha a intensidade do mercado no mesmo dia, e o tom acompanha o estado do mercado, ou seja, o quanto o preço está longe do topo. Não há relação com a Nasdaq, justamente o canal que mais move o BTC desde 2020, e nada com o retorno do dia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H6 separa o que acontece no mesmo dia do que acontece depois. Na direção, nenhuma das nove features passa na correção de Holm para o retorno de amanhã. Na intensidade, o número de notícias tem correlação 0,19 com o |retorno| do mesmo dia e só 0,04 com o de amanhã. As únicas que se mantêm são a % de notícias positivas e a dispersão do tom, porque são médias de 7 dias e acompanham o regime de volatilidade, que é persistente.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Correlação entre o tom de hoje e o retorno do BTC k dias depois. Se o sentimento antecipasse o preço, as barras significativas estariam à direita. Elas estão à esquerda: o tom de hoje se relaciona com o retorno de hoje e dos dias anteriores. O teste de Granger confirma: o retorno antecede o tom com p menor que 0,001 em todas as defasagens, e o contrário não é significativo em nenhuma. No gráfico da direita, os picos em ±7 são o ciclo semanal, não causalidade.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estudo de eventos dá nome ao projeto. Evento é um dia em que o tom fica a mais de 2 desvios da média dos 90 dias anteriores, com pelo menos 5 notícias; eventos a menos de 10 dias de outro são descartados. O retorno anormal é o retorno menos a média da janela de estimação. Além do teste t, usamos Wilcoxon e um placebo com 1.000 datas falsas, robusto às caudas pesadas. Resultado: o movimento acontece antes do choque de tom, e nada significativo acontece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as notícias não dão a direção, poderiam dar a intensidade. A volatilidade tem memória longa, e as notícias acompanham a volatilidade do momento. O teste justo é a correlação parcial, descontando a volatilidade passada e o fim de semana. Quase tudo desaparece: sobram efeitos pequenos da % positiva e da dispersão do tom, abaixo de 0,10. E os picos isolados de notícias não são seguidos de dias mais turbulentos.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Sobre os dados: a base está auditada, sem vazamento, e reproduzível a partir do HuggingFace, com a ressalva dos buracos de coleta do GDELT. Sobre o Bitcoin: a direção é quase imprevisível e a volatilidade é previsível, com uma quebra de regime em 2020. Sobre as notícias: cinco evidências independentes mostram que elas reagem ao preço.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5" y="1000714"/>
            <a:ext cx="10566390" cy="40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5" y="1714480"/>
            <a:ext cx="10566425" cy="433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75" y="1000714"/>
            <a:ext cx="10566390" cy="40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75" y="1714480"/>
            <a:ext cx="10566425" cy="433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2286000"/>
            <a:ext cx="10881360" cy="768096"/>
          </a:xfrm>
        </p:spPr>
        <p:txBody>
          <a:bodyPr wrap="square" lIns="0" rIns="0" tIns="0" bIns="0" anchor="t"/>
          <a:lstStyle/>
          <a:p>
            <a:pPr algn="l"/>
            <a:r>
              <a:rPr sz="5600" b="1" i="0">
                <a:solidFill>
                  <a:srgbClr val="F6F4EE"/>
                </a:solidFill>
                <a:latin typeface="Source Serif 4"/>
              </a:rPr>
              <a:t>MADES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" y="81381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895A"/>
                </a:solidFill>
                <a:latin typeface="IBM Plex Sans"/>
              </a:rPr>
              <a:t>SSC0957 · PRÁTICA EM CIÊNCIA DE DADOS II · UNIFICAÇÃO DOS DADOS E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3236976"/>
            <a:ext cx="91440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6F4EE"/>
                </a:solidFill>
                <a:latin typeface="Source Serif 4"/>
              </a:rPr>
              <a:t>Unificação dos dados e análise exploratória: as notícias ajudam a prever o Bitcoin?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4288536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C8D8"/>
                </a:solidFill>
                <a:latin typeface="IBM Plex Sans"/>
              </a:rPr>
              <a:t>Market Analysis Driven by Event Studies · Bitcoin, macroeconomia e notícias (GDELT)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81558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C8D8"/>
                </a:solidFill>
                <a:latin typeface="IBM Plex Sans"/>
              </a:rPr>
              <a:t>Victor Silva Botelho · Leonardo Doro Demore · Julio Cesar A. A. Fuganti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5833872"/>
            <a:ext cx="3511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FC8D8"/>
                </a:solidFill>
                <a:latin typeface="IBM Plex Sans"/>
              </a:rPr>
              <a:t>Prof. Alexandre Delbem · 29/10/2026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Quatro perguntas guiam a análise exploratória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ROTEIRO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2468880" cy="356616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8013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B0501F"/>
                </a:solidFill>
                <a:latin typeface="Source Serif 4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5603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301752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A base é confiável e sem vazamento? Como alinhar mercado e notícias no mesmo dia?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47548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Correção e integração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18488"/>
            <a:ext cx="2468880" cy="356616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9896" y="18013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B0501F"/>
                </a:solidFill>
                <a:latin typeface="Source Serif 4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5603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BTC e mercados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01752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O que é previsível no BTC? Como ele se relaciona com bolsas, dólar e juros?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47548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H1 a H4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18488"/>
            <a:ext cx="2468880" cy="356616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8013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B0501F"/>
                </a:solidFill>
                <a:latin typeface="Source Serif 4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03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Notícias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01752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Quem publica, quando, com que tom e sobre quais temas?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7548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H5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618488"/>
            <a:ext cx="2468880" cy="356616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8013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B0501F"/>
                </a:solidFill>
                <a:latin typeface="Source Serif 4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5603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Notícias × BTC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301752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As notícias antecipam a direção ou a volatilidade do BTC, ou só reagem a elas?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47548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H6 a H10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440680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Cada hipótese tem um teste formal, com α = 0,05, testes não paramétricos (os retornos têm caudas pesadas) e correção para múltiplos testes.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integrated_eda.ipynb, seções 1 a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F6F4EE"/>
                </a:solidFill>
                <a:latin typeface="Source Serif 4"/>
              </a:rPr>
              <a:t>A tese que levamos para 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895A"/>
                </a:solidFill>
                <a:latin typeface="IBM Plex Sans"/>
              </a:rPr>
              <a:t>A PERGUNTA CENTRAL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764792"/>
            <a:ext cx="10570464" cy="1261872"/>
          </a:xfrm>
          <a:prstGeom prst="roundRect">
            <a:avLst>
              <a:gd name="adj" fmla="val 8400"/>
            </a:avLst>
          </a:prstGeom>
          <a:solidFill>
            <a:srgbClr val="1E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148840"/>
            <a:ext cx="497433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6F4EE"/>
                </a:solidFill>
                <a:latin typeface="Source Serif 4"/>
              </a:rPr>
              <a:t>Dados estruturados</a:t>
            </a:r>
          </a:p>
        </p:txBody>
      </p:sp>
      <p:pic>
        <p:nvPicPr>
          <p:cNvPr id="6" name="Picture 5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249424"/>
            <a:ext cx="612648" cy="30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59752" y="2066543"/>
            <a:ext cx="40325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6F4EE"/>
                </a:solidFill>
                <a:latin typeface="IBM Plex Sans"/>
              </a:rPr>
              <a:t>Volatilidade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478024"/>
            <a:ext cx="4032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quanto o BTC vai oscilar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3236976"/>
            <a:ext cx="10570464" cy="1261872"/>
          </a:xfrm>
          <a:prstGeom prst="roundRect">
            <a:avLst>
              <a:gd name="adj" fmla="val 8400"/>
            </a:avLst>
          </a:prstGeom>
          <a:solidFill>
            <a:srgbClr val="1E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621024"/>
            <a:ext cx="497433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6F4EE"/>
                </a:solidFill>
                <a:latin typeface="Source Serif 4"/>
              </a:rPr>
              <a:t>Notícias (GDELT)</a:t>
            </a:r>
          </a:p>
        </p:txBody>
      </p:sp>
      <p:pic>
        <p:nvPicPr>
          <p:cNvPr id="11" name="Picture 10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3721608"/>
            <a:ext cx="61264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59752" y="3538728"/>
            <a:ext cx="40325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6F4EE"/>
                </a:solidFill>
                <a:latin typeface="IBM Plex Sans"/>
              </a:rPr>
              <a:t>Direção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950208"/>
            <a:ext cx="4032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para onde o BTC vai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75488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Antes de qualquer modelo, a EDA verifica as duas metades: o que é previsível no próprio BTC e se as notícias trazem alguma informação que o preço ainda não 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7AD"/>
                </a:solidFill>
                <a:latin typeface="IBM Plex Sans"/>
              </a:rPr>
              <a:t>MADES · Unificação dos dados e 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C97AD"/>
                </a:solidFill>
                <a:latin typeface="IBM Plex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Duas trilhas, uma base diária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1 · OS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5175504" cy="278892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" y="1801368"/>
            <a:ext cx="4626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ESTRUTURADA · yfinance, FRED e bancos centrais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2103120"/>
            <a:ext cx="4626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Source Serif 4"/>
              </a:rPr>
              <a:t>43 séries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697480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IBM Plex Sans"/>
              </a:rPr>
              <a:t>jan/2016 a dez/2025 · publicada no HuggingFace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108960"/>
            <a:ext cx="46268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BTC (abertura, máxima, mínima, fechamento e volume)</a:t>
            </a:r>
          </a:p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9 índices de ações e 7 câmbios</a:t>
            </a:r>
          </a:p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11 taxas de juros e 11 índices de inflação (CPI)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18488"/>
            <a:ext cx="5175504" cy="278892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801368"/>
            <a:ext cx="4626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NÃO ESTRUTURADA · GDELT, via BigQuery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03120"/>
            <a:ext cx="4626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213D"/>
                </a:solidFill>
                <a:latin typeface="Source Serif 4"/>
              </a:rPr>
              <a:t>79.186 notícias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97480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IBM Plex Sans"/>
              </a:rPr>
              <a:t>jan/2017 a jan/2026 · publicada no HuggingFace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108960"/>
            <a:ext cx="46268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Reuters, Bloomberg, CoinDesk e Cointelegraph</a:t>
            </a:r>
          </a:p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Tom de cada notícia (na prática, entre −10 e +10)</a:t>
            </a:r>
          </a:p>
          <a:p>
            <a:pPr algn="l" marL="18288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3F4A5A"/>
                </a:solidFill>
                <a:latin typeface="IBM Plex Sans"/>
              </a:rPr>
              <a:t>Temas e organizações citados, agrupados em 11 clusters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617720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F4A5A"/>
                </a:solidFill>
                <a:latin typeface="IBM Plex Sans"/>
              </a:rPr>
              <a:t>Frequências de origem diferentes, todas levadas ao calendário diário do BTC: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" y="4983480"/>
            <a:ext cx="3416808" cy="77724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983480"/>
            <a:ext cx="314248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~30% dos dias 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sem variação em bolsas e câmbio (fins de semana)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072" y="4983480"/>
            <a:ext cx="3416808" cy="77724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3232" y="4983480"/>
            <a:ext cx="314248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&lt; 5% dos dias 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com mudança em juros e CPI (séries mensais)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8328" y="4983480"/>
            <a:ext cx="3416808" cy="77724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4983480"/>
            <a:ext cx="314248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33 dias 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sem nenhuma notícia, entre 2017 e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§1.3 · README dos datasets no HuggingFace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O CPI entrava na base antes de existir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1 · OS DADOS · VAZAMENTO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609344"/>
            <a:ext cx="1046073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O FRED data o dado mensal pelo </a:t>
            </a:r>
            <a:r>
              <a:rPr sz="1400" b="1" i="0">
                <a:solidFill>
                  <a:srgbClr val="3F4A5A"/>
                </a:solidFill>
                <a:latin typeface="IBM Plex Sans"/>
              </a:rPr>
              <a:t>início do mês de referência</a:t>
            </a:r>
            <a:r>
              <a:rPr sz="1400" b="0" i="0">
                <a:solidFill>
                  <a:srgbClr val="3F4A5A"/>
                </a:solidFill>
                <a:latin typeface="IBM Plex Sans"/>
              </a:rPr>
              <a:t>. Com o forward fill, o CPI de janeiro aparecia em 01/01, mas só é divulgado por volta de 15/02.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2240280"/>
            <a:ext cx="10561320" cy="269748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PI dos EUA na base diária de out/2021 a dez/2022: a versão antiga (laranja) muda no dia 1º de cada mês; a corrigida (azul) muda cerca de 45 dias depo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331720"/>
            <a:ext cx="10241280" cy="2514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" y="5166360"/>
            <a:ext cx="3422904" cy="50292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166360"/>
            <a:ext cx="31485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45 dias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 · CPI dos EUA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5166360"/>
            <a:ext cx="3422904" cy="50292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0184" y="5166360"/>
            <a:ext cx="31485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55 dias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 · demais CPIs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2232" y="5166360"/>
            <a:ext cx="3422904" cy="502920"/>
          </a:xfrm>
          <a:prstGeom prst="roundRect">
            <a:avLst>
              <a:gd name="adj" fmla="val 8400"/>
            </a:avLst>
          </a:prstGeom>
          <a:solidFill>
            <a:srgbClr val="E8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392" y="5166360"/>
            <a:ext cx="31485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32–35 dias</a:t>
            </a:r>
            <a:r>
              <a:rPr sz="1400" b="0" i="0">
                <a:solidFill>
                  <a:srgbClr val="14213D"/>
                </a:solidFill>
                <a:latin typeface="IBM Plex Sans"/>
              </a:rPr>
              <a:t> · juros mensais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§1.1 · config.py (PUBLICATION_LAGS)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Um pipeline reprodutível, do HuggingFace à base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1 · OS DADOS · INTEGRAÇÃO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3410712" cy="16916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1801368"/>
            <a:ext cx="3044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5FAE"/>
                </a:solidFill>
                <a:latin typeface="IBM Plex Sans"/>
              </a:rPr>
              <a:t>struc_data_processing.py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" y="2075688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1 · Base estruturada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487168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load_from_hf_struc: baixa as 43 séries e aplica a defasagem de publicação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18488"/>
            <a:ext cx="3410712" cy="16916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01368"/>
            <a:ext cx="3044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5FAE"/>
                </a:solidFill>
                <a:latin typeface="IBM Plex Sans"/>
              </a:rPr>
              <a:t>load_from_hf_nstruc · nlp_processing.py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75688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2 · Notícias diárias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87168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Tom ajustado pela fonte, 11 temas e agregação por dia UTC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618488"/>
            <a:ext cx="3410712" cy="16916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801368"/>
            <a:ext cx="3044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5FAE"/>
                </a:solidFill>
                <a:latin typeface="IBM Plex Sans"/>
              </a:rPr>
              <a:t>integration.py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075688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D"/>
                </a:solidFill>
                <a:latin typeface="Source Serif 4"/>
              </a:rPr>
              <a:t>3 · Integração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487168"/>
            <a:ext cx="30449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Junta as duas trilhas no calendário do BTC: 3.650 dias × 74 colunas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3520440"/>
            <a:ext cx="10561320" cy="233172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BM Plex Sans"/>
              </a:rPr>
              <a:t>O que entra na linha do dia t (horário UTC)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4617720"/>
            <a:ext cx="8915400" cy="5486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43584" y="45628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BM Plex Sans"/>
              </a:rPr>
              <a:t>00h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F4A5A"/>
                </a:solidFill>
                <a:latin typeface="IBM Plex Sans"/>
              </a:rPr>
              <a:t>início do 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2434" y="45628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06090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BM Plex Sans"/>
              </a:rPr>
              <a:t>06h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6050" y="4846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F4A5A"/>
                </a:solidFill>
                <a:latin typeface="IBM Plex Sans"/>
              </a:rPr>
              <a:t>fecha Tóquio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2921" y="45628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6577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BM Plex Sans"/>
              </a:rPr>
              <a:t>16h30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6537" y="4846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F4A5A"/>
                </a:solidFill>
                <a:latin typeface="IBM Plex Sans"/>
              </a:rPr>
              <a:t>fecham as bolsas europeias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4559" y="45628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F5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8215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BM Plex Sans"/>
              </a:rPr>
              <a:t>20h–21h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8215" y="4846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F4A5A"/>
                </a:solidFill>
                <a:latin typeface="IBM Plex Sans"/>
              </a:rPr>
              <a:t>fecham NY e São Paulo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58984" y="45628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0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160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BM Plex Sans"/>
              </a:rPr>
              <a:t>24h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846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F4A5A"/>
                </a:solidFill>
                <a:latin typeface="IBM Plex Sans"/>
              </a:rPr>
              <a:t>fecha o candle do BTC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44068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4A5A"/>
                </a:solidFill>
                <a:latin typeface="IBM Plex Sans"/>
              </a:rPr>
              <a:t>Notícias do GDELT também em UTC: </a:t>
            </a:r>
            <a:r>
              <a:rPr sz="1300" b="0" i="0">
                <a:solidFill>
                  <a:srgbClr val="3F4A5A"/>
                </a:solidFill>
                <a:latin typeface="IBM Plex Sans"/>
              </a:rPr>
              <a:t>a linha do dia t só tem o que já se sabia às 24h UTC de 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python main.py reproduz a base inteira em ~40 s · decisões justificadas em pipeline2.md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Cerca de 200x em 10 anos, com risco extremo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2 · BITCOIN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6949440" cy="43434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ço do BTC de 2016 a 2025 em escala log, de cerca de 430 a mais de 100 mil dólares, e o drawdown, com quedas de cerca de 80% em 2018 e de 75% em 20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27777"/>
            <a:ext cx="6766559" cy="41248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691640"/>
            <a:ext cx="3328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70% a.a.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212848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retorno anualizado (CAGR), de jan/2016 a dez/2025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70632"/>
            <a:ext cx="3328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68% a.a.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291840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volatilidade anualizada no período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849624"/>
            <a:ext cx="3328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0501F"/>
                </a:solidFill>
                <a:latin typeface="Source Serif 4"/>
              </a:rPr>
              <a:t>−83%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370832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maior queda desde o topo, em dez/2018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928616"/>
            <a:ext cx="3328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94% → 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449824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volatilidade anual em 2017 e em 2025: o mercado amadureceu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§2.1 · log-retornos diários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A direção é imprevisível; a volatilidade, não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2 · BITCOIN · H1 A H3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269748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tocorrelação dos retornos diários (barras pequenas, dentro da faixa de ruído) e dos retornos ao quadrado (barras positivas em todas as 30 defasagen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514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" y="4526280"/>
            <a:ext cx="3410712" cy="14630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4681728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H1 · CAUDAS PESADAS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49560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5FAE"/>
                </a:solidFill>
                <a:latin typeface="Source Serif 4"/>
              </a:rPr>
              <a:t>64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5349240"/>
            <a:ext cx="30083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com |retorno| acima de 3σ, contra 10 esperados numa normal (curtose ≈ 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26280"/>
            <a:ext cx="3410712" cy="14630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681728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H2 · MEMÓRIA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9560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5FAE"/>
                </a:solidFill>
                <a:latin typeface="Source Serif 4"/>
              </a:rPr>
              <a:t>r: p = 0,09 · r²: p &lt; 0,001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5349240"/>
            <a:ext cx="30083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Ljung-Box: o retorno de ontem não prevê o de hoje, mas a volatilidade se agrupa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4424" y="4526280"/>
            <a:ext cx="3410712" cy="14630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4681728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H3 · FIM DE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956048"/>
            <a:ext cx="30083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5FAE"/>
                </a:solidFill>
                <a:latin typeface="Source Serif 4"/>
              </a:rPr>
              <a:t>2,7% × 3,8%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5349240"/>
            <a:ext cx="300837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desvio diário no fim de semana e nos dias úteis (Levene p &lt; 0,001); sem sazonalidade no retorno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§2.1 (H1, H2, H3) · 2016–2025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Em 2020, o BTC virou um ativo de risco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2 · BITCOIN × MERCADOS · H4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29718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À esquerda, correlação de Spearman entre o retorno diário do BTC e de cada ativo, quase zero em 2016–2019 e positiva com todas as bolsas em 2020–2025; à direita, a correlação móvel com Nasdaq e dól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48006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0,02 → 0,39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32180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correlação com a Nasdaq 100, antes e depois de 2020 (z de Fisher, p &lt; 0,001)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48006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0501F"/>
                </a:solidFill>
                <a:latin typeface="Source Serif 4"/>
              </a:rPr>
              <a:t>−0,02 → −0,14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532180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correlação com o dólar (DXY): dólar forte, BTC fraco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6" y="4754880"/>
            <a:ext cx="3337560" cy="123444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493776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IMPLICAÇÃO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5221224"/>
            <a:ext cx="28803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2020 é uma quebra de regime: relações medidas no período inteiro escondem a mudança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§2.2 (H4) · retornos diários, só dias úteis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Correlação em nível engana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2 · BITCOIN × MACROECONOMIA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6629400" cy="41148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ção de Spearman com o BTC em nível (cinza, até 0,97) e em variação mensal (azul, quase zero para tudo exceto a Nasdaq, 0,3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60617"/>
            <a:ext cx="6446520" cy="38305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18488"/>
            <a:ext cx="3694176" cy="141732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783080"/>
            <a:ext cx="3236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IBM Plex Sans"/>
              </a:rPr>
              <a:t>EM NÍVEL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029968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B7280"/>
                </a:solidFill>
                <a:latin typeface="Source Serif 4"/>
              </a:rPr>
              <a:t>0,93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23744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BTC × CPI dos EUA: as duas séries só sobem com o tempo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00400"/>
            <a:ext cx="3694176" cy="141732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364992"/>
            <a:ext cx="32369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EM VARIAÇÃO MENSAL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61188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5FAE"/>
                </a:solidFill>
                <a:latin typeface="Source Serif 4"/>
              </a:rPr>
              <a:t>−0,06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105656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a relação desaparece; só a Nasdaq continua relevante (0,31)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846320"/>
            <a:ext cx="369417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F4A5A"/>
                </a:solidFill>
                <a:latin typeface="IBM Plex Sans"/>
              </a:rPr>
              <a:t>Lição: </a:t>
            </a:r>
            <a:r>
              <a:rPr sz="1400" b="0" i="0">
                <a:solidFill>
                  <a:srgbClr val="3F4A5A"/>
                </a:solidFill>
                <a:latin typeface="IBM Plex Sans"/>
              </a:rPr>
              <a:t>comparar variações ou z-scores, nunca níveis. Vale também para o volume de notícias.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§2.2 · último valor de cada mês, já com a defasagem de publicação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O volume reflete a coleta tanto quanto a atenção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3 · NOTÍCIAS · VOLUME E FONTES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288036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otícias por mês e por fonte de 2017 a 2025: pico de 2.600 no fim de 2017, Reuters dominante em 2017–2021 e quase ausente depois, CoinDesk ausente de 2021 a 2023 e Cointelegraph ausente em grande parte de 20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6974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" y="4681728"/>
            <a:ext cx="3410712" cy="132588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486460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BOLHA DE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5148072"/>
            <a:ext cx="29535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2.651 notícias em dez/2017: o pico real de atenção da mídia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81728"/>
            <a:ext cx="3410712" cy="132588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86460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BURACOS DE COLETA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148072"/>
            <a:ext cx="29535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CoinDesk some por 25 meses (2021–23), Reuters some no fim de 2022, Cointelegraph some em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4681728"/>
            <a:ext cx="3410712" cy="132588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4864608"/>
            <a:ext cx="2953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IMPLICAÇÃO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5148072"/>
            <a:ext cx="295351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o nível não é comparável entre anos: o volume entra em z-score, relativo aos 30 dias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§3 · 79.186 notícias únicas (duplicatas removidas por URL)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Cada fonte tem um tom de base, e o ajuste corrige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3 · NOTÍCIAS · H5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6400800" cy="361188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m médio bruto por fonte, de −1,7 na Bloomberg a −0,5 na CoinDesk, e o tom ajustado, próximo de zero para as quatro fon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52184"/>
            <a:ext cx="6217920" cy="33444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24927" y="1618488"/>
            <a:ext cx="3950208" cy="114300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3527" y="1801368"/>
            <a:ext cx="3493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7" y="2084831"/>
            <a:ext cx="349300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Bloomberg −1,7 e CoinDesk −0,5, e a mistura de fontes muda: o tom bruto mede quem publicou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2852928"/>
            <a:ext cx="3950208" cy="114300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3035808"/>
            <a:ext cx="3493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SOLUÇÃO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7" y="3319272"/>
            <a:ext cx="3493008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tom ajustado = tom − média histórica da fonte, calculada só com notícias anteriores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4087368"/>
            <a:ext cx="3950208" cy="1143000"/>
          </a:xfrm>
          <a:prstGeom prst="roundRect">
            <a:avLst>
              <a:gd name="adj" fmla="val 84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7" y="4270248"/>
            <a:ext cx="3493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FAE"/>
                </a:solidFill>
                <a:latin typeface="IBM Plex Sans"/>
              </a:rP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7" y="4553712"/>
            <a:ext cx="349300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F4A5A"/>
                </a:solidFill>
                <a:latin typeface="IBM Plex Sans"/>
              </a:rPr>
              <a:t>o efeito da fonte cai 80% (ε² de 0,022 para 0,005)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5440680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F4A5A"/>
                </a:solidFill>
                <a:latin typeface="IBM Plex Sans"/>
              </a:rPr>
              <a:t>59% das notícias têm tom negativo. Kruskal-Wallis rejeita tom igual entre as fontes (p ≈ 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§3 (H5) · tom do GDELT (V2Tone)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O tom acompanha os grandes episódios do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3 · NOTÍCIAS · AO LONGO DO TEMPO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310896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ço mensal do BTC e tom médio mensal das notícias de 2017 a 2025: o tom fica mais negativo em mar/2020 e no fim de 2022, e mais positivo entre o fim de 2020 e o início de 20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18" y="1709928"/>
            <a:ext cx="9782715" cy="2926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4892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0501F"/>
                </a:solidFill>
                <a:latin typeface="Source Serif 4"/>
              </a:rPr>
              <a:t>−1,65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41324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tom de dez/2022, o mais negativo da série: colapso da FTX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4892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+1,33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541324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tom de fev/2021, o mais positivo, no meio da alta de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6" y="4892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9 de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7576" y="541324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dias com mais notícias tiveram BTC movendo 6% ou mais no dia ou na véspera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§3 · tom mensal ponderado pelo número de notícias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No fim de semana, notícias e volatilidade caem juntas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3 · NOTÍCIAS · CALENDÁRIO E TEMAS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6309360" cy="34290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édia por dia da semana: cerca de 30 notícias por dia útil e 7 a 9 no fim de semana; o |retorno| do BTC também é menor no sábado e no domin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31748"/>
            <a:ext cx="6126480" cy="3202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5212080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F4A5A"/>
                </a:solidFill>
                <a:latin typeface="IBM Plex Sans"/>
              </a:rPr>
              <a:t>−73% de notícias no fim de semana </a:t>
            </a:r>
            <a:r>
              <a:rPr sz="1300" b="0" i="0">
                <a:solidFill>
                  <a:srgbClr val="3F4A5A"/>
                </a:solidFill>
                <a:latin typeface="IBM Plex Sans"/>
              </a:rPr>
              <a:t>(8 por dia, contra 30). Como o BTC também oscila menos, as duas séries têm o mesmo ciclo: correlação de calendário.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18488"/>
            <a:ext cx="4059936" cy="4187952"/>
          </a:xfrm>
          <a:prstGeom prst="roundRect">
            <a:avLst>
              <a:gd name="adj" fmla="val 3800"/>
            </a:avLst>
          </a:prstGeom>
          <a:solidFill>
            <a:srgbClr val="FDFCF9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3602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DO QUE SE FALA · 11 TEMAS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43800" y="2148840"/>
          <a:ext cx="360273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088136"/>
                <a:gridCol w="6400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4213D"/>
                          </a:solidFill>
                          <a:latin typeface="IBM Plex Sans"/>
                        </a:rPr>
                        <a:t>Tema</a:t>
                      </a:r>
                    </a:p>
                  </a:txBody>
                  <a:tcPr marL="54864" marR="54864" marT="27432" marB="27432" anchor="ctr"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4213D"/>
                          </a:solidFill>
                          <a:latin typeface="IBM Plex Sans"/>
                        </a:rPr>
                        <a:t>% das notícias</a:t>
                      </a:r>
                    </a:p>
                  </a:txBody>
                  <a:tcPr marL="54864" marR="54864" marT="27432" marB="27432" anchor="ctr"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4213D"/>
                          </a:solidFill>
                          <a:latin typeface="IBM Plex Sans"/>
                        </a:rPr>
                        <a:t>tom</a:t>
                      </a:r>
                    </a:p>
                  </a:txBody>
                  <a:tcPr marL="54864" marR="54864" marT="27432" marB="27432" anchor="ctr">
                    <a:solidFill>
                      <a:srgbClr val="E8E4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Redes sociais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47%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5FAE"/>
                          </a:solidFill>
                          <a:latin typeface="IBM Plex Sans"/>
                        </a:rPr>
                        <a:t>+0,20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Regulação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B0501F"/>
                          </a:solidFill>
                          <a:latin typeface="IBM Plex Sans"/>
                        </a:rPr>
                        <a:t>−0,22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Governança e justiça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37%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B0501F"/>
                          </a:solidFill>
                          <a:latin typeface="IBM Plex Sans"/>
                        </a:rPr>
                        <a:t>−0,53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Política monetária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34%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B0501F"/>
                          </a:solidFill>
                          <a:latin typeface="IBM Plex Sans"/>
                        </a:rPr>
                        <a:t>−0,16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Mineração e energia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3F4A5A"/>
                          </a:solidFill>
                          <a:latin typeface="IBM Plex Sans"/>
                        </a:rPr>
                        <a:t>13%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5FAE"/>
                          </a:solidFill>
                          <a:latin typeface="IBM Plex Sans"/>
                        </a:rPr>
                        <a:t>+0,46</a:t>
                      </a:r>
                    </a:p>
                  </a:txBody>
                  <a:tcPr marL="54864" marR="54864" marT="27432" marB="27432" anchor="ctr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4617720"/>
            <a:ext cx="360273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Os 3 maiores clusters são genéricos (comércio, crise e política econômica, em mais de 70% das notícias) e ficam de fora.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§3 · temas e organizações do GDELT agrupados por coocorrência (k = 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As notícias descrevem o estado do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4 · NOTÍCIAS × BTC · CORRELAÇÕES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7132320" cy="406908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a de correlações de Spearman entre features de notícias e variáveis do BTC: as maiores são do número de notícias com o volume negociado e do tom com o drawdown; com o retorno de t+1, todas perto de z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30349"/>
            <a:ext cx="6949440" cy="384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645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0501F"/>
                </a:solidFill>
                <a:latin typeface="Source Serif 4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59" y="1700784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F4A5A"/>
                </a:solidFill>
                <a:latin typeface="IBM Plex Sans"/>
              </a:rPr>
              <a:t>Atenção acompanha a intensidade: </a:t>
            </a:r>
            <a:r>
              <a:rPr sz="1400" b="0" i="0">
                <a:solidFill>
                  <a:srgbClr val="3F4A5A"/>
                </a:solidFill>
                <a:latin typeface="IBM Plex Sans"/>
              </a:rPr>
              <a:t>picos de notícias × volume negociado chegam a 0,39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9718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0501F"/>
                </a:solidFill>
                <a:latin typeface="Source Serif 4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3026664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F4A5A"/>
                </a:solidFill>
                <a:latin typeface="IBM Plex Sans"/>
              </a:rPr>
              <a:t>Tom acompanha o estado: </a:t>
            </a:r>
            <a:r>
              <a:rPr sz="1400" b="0" i="0">
                <a:solidFill>
                  <a:srgbClr val="3F4A5A"/>
                </a:solidFill>
                <a:latin typeface="IBM Plex Sans"/>
              </a:rPr>
              <a:t>tom de 7 dias × drawdown 0,38; % negativas × drawdown −0,43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2976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0501F"/>
                </a:solidFill>
                <a:latin typeface="Source Serif 4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4352544"/>
            <a:ext cx="27797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F4A5A"/>
                </a:solidFill>
                <a:latin typeface="IBM Plex Sans"/>
              </a:rPr>
              <a:t>Nada com a Nasdaq nem com o retorno de t+1 </a:t>
            </a:r>
            <a:r>
              <a:rPr sz="1400" b="0" i="0">
                <a:solidFill>
                  <a:srgbClr val="3F4A5A"/>
                </a:solidFill>
                <a:latin typeface="IBM Plex Sans"/>
              </a:rPr>
              <a:t>(à direita da linha)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§4 · Spearman · * = significativo após Holm · 2017–2025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Mesmo dia sim, dia seguinte não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4 · NOTÍCIAS × BTC · H6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306324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ção de cada feature de notícia com o BTC do mesmo dia (cinza) e do dia seguinte (azul), para a direção e para a intensidade: as barras do dia seguinte são menores ou nul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48463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0501F"/>
                </a:solidFill>
                <a:latin typeface="Source Serif 4"/>
              </a:rPr>
              <a:t>0 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36752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features de notícia significativas para o retorno de t+1, após a correção de Holm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48463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0,19 → 0,04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536752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nº de notícias × |retorno| do BTC, do mesmo dia para o dia seguinte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6" y="48463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−0,13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7576" y="536752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% positivas e dispersão do tom × |retorno| de t+1: só restam as médias de 7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§4 (H6) · Spearman · Holm para 18 comparações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O tom acompanha o preço de ontem, não o de amanhã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5 · O SENTIMENTO ANTECIPA O PREÇO? · H7 E H8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278892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ção entre o tom do dia t e o retorno do BTC em t + k, para k de −10 a +10: as barras significativas estão em k ≤ 0; à direita, o mesmo para o número de notícias e o |retorno|, com picos em k = ±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60603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3816" y="4617720"/>
          <a:ext cx="10561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246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IBM Plex Sans"/>
                        </a:rPr>
                        <a:t>Causalidade de Granger (1 a 7 dias)</a:t>
                      </a:r>
                    </a:p>
                  </a:txBody>
                  <a:tcPr marL="109728" anchor="ctr"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IBM Plex Sans"/>
                        </a:rPr>
                        <a:t>p-valor</a:t>
                      </a:r>
                    </a:p>
                  </a:txBody>
                  <a:tcPr marL="109728" anchor="ctr">
                    <a:solidFill>
                      <a:srgbClr val="E8E4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4213D"/>
                          </a:solidFill>
                          <a:latin typeface="IBM Plex Sans"/>
                        </a:rPr>
                        <a:t>Leitura</a:t>
                      </a:r>
                    </a:p>
                  </a:txBody>
                  <a:tcPr marL="109728" anchor="ctr">
                    <a:solidFill>
                      <a:srgbClr val="E8E4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F4A5A"/>
                          </a:solidFill>
                          <a:latin typeface="IBM Plex Sans"/>
                        </a:rPr>
                        <a:t>tom → retorno do BTC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F4A5A"/>
                          </a:solidFill>
                          <a:latin typeface="IBM Plex Sans"/>
                        </a:rPr>
                        <a:t>0,28 a 0,74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F4A5A"/>
                          </a:solidFill>
                          <a:latin typeface="IBM Plex Sans"/>
                        </a:rPr>
                        <a:t>não significativo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F4A5A"/>
                          </a:solidFill>
                          <a:latin typeface="IBM Plex Sans"/>
                        </a:rPr>
                        <a:t>retorno do BTC → tom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F4A5A"/>
                          </a:solidFill>
                          <a:latin typeface="IBM Plex Sans"/>
                        </a:rPr>
                        <a:t>&lt; 0,001 em todas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F4A5A"/>
                          </a:solidFill>
                          <a:latin typeface="IBM Plex Sans"/>
                        </a:rPr>
                        <a:t>o preço vem primeiro</a:t>
                      </a:r>
                    </a:p>
                  </a:txBody>
                  <a:tcPr marL="109728" anchor="ctr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§5 (H7, H8) · 2017–2025, tom ajustado pela fonte · picos em k = ±7: ciclo semanal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O preço se move antes da notícia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6 · ESTUDO DE EVENTOS · CHOQUES DE SENTIMENTO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10561320" cy="288036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torno anormal acumulado médio de 5 dias antes a 10 dias depois do evento: nos 58 choques negativos o CAR cai antes; nos 31 positivos sobe cerca de 4% até o evento e fica estável depo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1709928"/>
            <a:ext cx="10241280" cy="269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47091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5FAE"/>
                </a:solidFill>
                <a:latin typeface="Source Serif 4"/>
              </a:rPr>
              <a:t>+4,3%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23036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nos 5 dias antes dos choques positivos · placebo p = 0,004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47091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B0501F"/>
                </a:solidFill>
                <a:latin typeface="Source Serif 4"/>
              </a:rPr>
              <a:t>−2,2%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523036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nos 5 dias antes dos choques negativos · placebo p = 0,056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6" y="47091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B7280"/>
                </a:solidFill>
                <a:latin typeface="Source Serif 4"/>
              </a:rPr>
              <a:t>≈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7576" y="523036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depois do evento, nos dois casos · sem significância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Evento: tom a mais de 2σ da média dos 90 dias anteriores · modelo de média constante · 1.000 sorteios no placebo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14213D"/>
                </a:solidFill>
                <a:latin typeface="Source Serif 4"/>
              </a:rPr>
              <a:t>Na volatilidade, as notícias repetem o que o passado já diz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501F"/>
                </a:solidFill>
                <a:latin typeface="IBM Plex Sans"/>
              </a:rPr>
              <a:t>7 · NOTÍCIAS × VOLATILIDADE · H9 E H10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6629400" cy="411480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E2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rrelação de cada feature de notícia com a volatilidade dos próximos 7 dias, bruta (cinza) e descontada a volatilidade passada (azul): os maiores efeitos, de cerca de −0,25, caem para menos de 0,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60617"/>
            <a:ext cx="6446520" cy="383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691640"/>
            <a:ext cx="36484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6B7280"/>
                </a:solidFill>
                <a:latin typeface="Source Serif 4"/>
              </a:rPr>
              <a:t>0,48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212848"/>
            <a:ext cx="3648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correlação da volatilidade passada com a da semana seguinte: é a régua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063240"/>
            <a:ext cx="36484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F5FAE"/>
                </a:solidFill>
                <a:latin typeface="Source Serif 4"/>
              </a:rPr>
              <a:t>−0,25 → −0,10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584448"/>
            <a:ext cx="3648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% de notícias positivas, antes e depois de descontar o passado: o maior efeito que sobra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434840"/>
            <a:ext cx="36484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0501F"/>
                </a:solidFill>
                <a:latin typeface="Source Serif 4"/>
              </a:rPr>
              <a:t>15 picos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64845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F4A5A"/>
                </a:solidFill>
                <a:latin typeface="IBM Plex Sans"/>
              </a:rPr>
              <a:t>de notícias sem excesso de |retorno| antes ou depois (H9, Wilcoxon p ≥ 0,33)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BM Plex Sans"/>
              </a:rPr>
              <a:t>Fonte: integrated_eda.ipynb §6–7 (H9, H10) · Spearman parcial, com controles do HAR e de fim de semana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IBM Plex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996696"/>
            <a:ext cx="10881360" cy="438912"/>
          </a:xfrm>
        </p:spPr>
        <p:txBody>
          <a:bodyPr wrap="square" lIns="0" rIns="0" tIns="0" bIns="0" anchor="t"/>
          <a:lstStyle/>
          <a:p>
            <a:pPr algn="l"/>
            <a:r>
              <a:rPr sz="2800" b="1" i="0">
                <a:solidFill>
                  <a:srgbClr val="F6F4EE"/>
                </a:solidFill>
                <a:latin typeface="Source Serif 4"/>
              </a:rPr>
              <a:t>As notícias descrevem o mercado, mas não o antecipam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71323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895A"/>
                </a:solidFill>
                <a:latin typeface="IBM Plex Sans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618488"/>
            <a:ext cx="3398520" cy="2834640"/>
          </a:xfrm>
          <a:prstGeom prst="roundRect">
            <a:avLst>
              <a:gd name="adj" fmla="val 8400"/>
            </a:avLst>
          </a:prstGeom>
          <a:solidFill>
            <a:srgbClr val="1E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" y="1801368"/>
            <a:ext cx="2941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B3F0"/>
                </a:solidFill>
                <a:latin typeface="IBM Plex Sans"/>
              </a:rPr>
              <a:t>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84831"/>
            <a:ext cx="2941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6F4EE"/>
                </a:solidFill>
                <a:latin typeface="Source Serif 4"/>
              </a:rPr>
              <a:t>Base auditada e unificada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926079"/>
            <a:ext cx="29413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Vazamento do macro corrigido, tom ajustado pela fonte e 3.650 dias alinhados em UTC. Atenção aos buracos de coleta do GDELT.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5216" y="1618488"/>
            <a:ext cx="3398520" cy="2834640"/>
          </a:xfrm>
          <a:prstGeom prst="roundRect">
            <a:avLst>
              <a:gd name="adj" fmla="val 8400"/>
            </a:avLst>
          </a:prstGeom>
          <a:solidFill>
            <a:srgbClr val="1E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3816" y="1801368"/>
            <a:ext cx="2941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B3F0"/>
                </a:solidFill>
                <a:latin typeface="IBM Plex Sans"/>
              </a:rPr>
              <a:t>O BITCOIN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3816" y="2084831"/>
            <a:ext cx="2941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6F4EE"/>
                </a:solidFill>
                <a:latin typeface="Source Serif 4"/>
              </a:rPr>
              <a:t>Volatilidade previsível, direção não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3816" y="2926079"/>
            <a:ext cx="29413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Caudas pesadas, volatilidade em clusters e uma quebra em 2020, quando o BTC passou a andar com as bolsas.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6616" y="1618488"/>
            <a:ext cx="3398520" cy="2834640"/>
          </a:xfrm>
          <a:prstGeom prst="roundRect">
            <a:avLst>
              <a:gd name="adj" fmla="val 8400"/>
            </a:avLst>
          </a:prstGeom>
          <a:solidFill>
            <a:srgbClr val="1E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5216" y="1801368"/>
            <a:ext cx="2941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9895A"/>
                </a:solidFill>
                <a:latin typeface="IBM Plex Sans"/>
              </a:rPr>
              <a:t>AS NOTÍCIAS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216" y="2084831"/>
            <a:ext cx="2941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6F4EE"/>
                </a:solidFill>
                <a:latin typeface="Source Serif 4"/>
              </a:rPr>
              <a:t>Reagem ao preço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5216" y="2926079"/>
            <a:ext cx="294132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Correlações só no mesmo dia, Granger do preço para o tom, CAR antes dos choques e quase nada além da volatilidade passada.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70916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FC8D8"/>
                </a:solidFill>
                <a:latin typeface="IBM Plex Sans"/>
              </a:rPr>
              <a:t>Resposta da EDA à pergunta central: notícias diárias de mídia tradicional chegam depois do preço. O pouco sinal que sobra está na volatilidade (% de notícias positivas e dispersão do tom), não na direção.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6236208"/>
            <a:ext cx="9692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C97AD"/>
                </a:solidFill>
                <a:latin typeface="IBM Plex Sans"/>
              </a:rPr>
              <a:t>MADES · Unificação dos dados e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7936" y="62362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C97AD"/>
                </a:solidFill>
                <a:latin typeface="IBM Plex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DES — Atualização do trabalho">
  <a:themeElements>
    <a:clrScheme name="MADES — Atualização do trabalho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B0501F"/>
      </a:accent1>
      <a:accent2>
        <a:srgbClr val="1F5FAE"/>
      </a:accent2>
      <a:accent3>
        <a:srgbClr val="D9622B"/>
      </a:accent3>
      <a:accent4>
        <a:srgbClr val="E9895A"/>
      </a:accent4>
      <a:accent5>
        <a:srgbClr val="7FB3F0"/>
      </a:accent5>
      <a:accent6>
        <a:srgbClr val="3F4A5A"/>
      </a:accent6>
      <a:hlink>
        <a:srgbClr val="0563C1"/>
      </a:hlink>
      <a:folHlink>
        <a:srgbClr val="954F72"/>
      </a:folHlink>
    </a:clrScheme>
    <a:fontScheme name="MADES — Atualização do trabalho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MADES — Atualização do trabalho</dc:title>
  <dc:subject/>
  <dc:creator/>
  <cp:lastModifiedBy/>
  <cp:revision>1</cp:revision>
  <dcterms:created xsi:type="dcterms:W3CDTF">2026-10-29T16:41:52Z</dcterms:created>
  <dcterms:modified xsi:type="dcterms:W3CDTF">2026-10-29T16:41:52Z</dcterms:modified>
</cp:coreProperties>
</file>
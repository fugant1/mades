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apresentação cobre o trabalho entre a Entrega 1 (17/09) e hoje: as semanas de 08/10, 15/10 e 22/10 do relatório. Três blocos: o que consertamos na base, o que a análise integrada mostrou e os primeiros modelos. Spoiler: metade da nossa tese se confirmou e a outra metade não, e isso é um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 que mudou. 24/09 e 01/10 não tiveram aula. Em 08/10 auditamos as duas bases antes de juntar; em 15/10 testamos a hipótese das notícias; em 22/10 fizemos os primeiros modelos. Todas as decisões estão justificadas no pipeline2.md, no mesmo formato do pipeline da Entrega 1, e o PR já foi mergeado na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ideia que o grupo tinha desde o início: os dados de mercado e macro explicariam a volatilidade, e o sentimento das notícias daria a direção, que os dados estruturados não trazem. A visão do professor é fazer o difícil, então não assumimos: testamos as duas metades fora da amostra. Mas primeiro precisávamos garantir que a base não tinha vazamento.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Leonardo apresenta. Esse foi o achado mais importante da auditoria. Qualquer modelo treinado na base antiga veria a inflação cerca de 45 dias antes de ela ser publicada, e isso apareceria como um falso poder preditivo das variáveis macro. Corrigimos deslocando cada série pela sua defasagem de publicação, com valores conservadores. As séries diárias do FRED ficaram com 1 dia, e as taxas de política monetária com 0, porque são anunciadas antes de entrar em vigor. A EDA da Entrega 1 não é afetada, porque agregava por mês. O dataset no HuggingFace ainda precisa ser republicado. Na mesma revisão corrigimos dois bugs: as colunas lixo index e Unnamed: 0 no upload, e a checagem de duplicatas que olhava a numeração das linhas, e não as datas.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Julio apresenta. A busca no GDELT ficou restrita a cinco fontes, mas cada uma tem um tom de base diferente, com Bloomberg e Reuters bem mais negativas que os sites cripto (Kruskal-Wallis, p ≈ 0). E a mistura muda muito: a CoinDesk praticamente some em 2021 e 2022, e a Bloomberg quase não aparece de 2019 a 2021, por lacunas de indexação do GDELT. Sem correção, o sentimento cairia artificialmente nos anos em que as fontes tradicionais pesam mais. A média da fonte é expansiva e defasada, então não usa informação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Julio apresenta. Na Entrega 1 escolhemos k = 10 pelo maior Silhouette entre 2 e 10, e o máximo caiu justamente na borda do intervalo. Testando mais valores, o Silhouette continua subindo até 60, porque premia pares de conceitos quase duplicados, como York Stock Exchange e New York Stock Exchange. Trocamos por estabilidade: reamostramos as notícias 40 vezes, refazemos o agrupamento e medimos a concordância (ARI). O k = 10 era exatamente um corte instável, com salto de 0,005 no dendrograma. O k = 11 tem ARI ≈ 0,94 e um salto claro, e a escolha se repete com outras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Victor apresenta. O pipeline de notícias, que antes só existia no notebook, agora é um script. A integração junta as duas trilhas no calendário do BTC, e a decisão de fuso é o que garante que não há vazamento: o candle diário do BTC vai de 00h a 24h UTC, o GDELT está em UTC e a última bolsa a fechar, Nova York, fecha às 20h ou 21h UTC. Os módulos de features, estudo de eventos e modelos são usados pelos notebooks integrated_eda e modeling_baseline. Os CSVs do GDELT ficam em sources/data, fora do Git, como decidimos no pipeline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Julio apresenta. Correlação entre o tom de hoje e o retorno do BTC k dias depois. Se o sentimento antecipasse o preço, as barras significativas estariam à direita (k positivo). Elas estão à esquerda: o tom de hoje se relaciona com o retorno de hoje e dos dias anteriores. O teste de Granger confirma: o retorno do BTC antecede o tom com p menor que 0,001, e o contrário não é significativo em nenhuma defasagem. No gráfico da direita, os picos em k = ±7 são o ciclo semanal (fim de semana tem menos notícias e menos volatilidade), não efeito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Leonardo apresenta. O estudo de eventos dá nome ao projeto. Evento é um dia em que o tom fica a mais de 2 desvios da média dos 90 dias anteriores, com pelo menos 5 notícias. Eventos a menos de 10 dias de outro são descartados, para as janelas não se sobreporem. O retorno anormal é o retorno menos a média da janela de estimação (de −120 a −11 dias), o modelo padrão em cripto, que negocia 7 dias por semana. Como os retornos têm caudas pesadas, além do teste t usamos Wilcoxon e um teste placebo com 1.000 sorteios de datas falsas. Resultado: o movimento acontece antes do choque de tom e nada de significativo acontece depois. Depois dos choques negativos o CAR continua caindo (cerca de −2,5% em 10 dias), mas sem significância (p ≈ 0,14).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Victor apresenta. Em série temporal, k-fold embaralhado treina com o futuro e testa no passado. Usamos walk-forward: para cada ano de 2020 a 2025, o modelo treina com tudo o que veio antes e é testado naquele ano. O embargo de 7 dias existe porque o alvo de volatilidade olha 7 dias à frente: sem ele, os últimos alvos do treino veriam o início do teste. São seis anos de regimes muito diferentes: pandemia, bolha, inverno cripto, juro alto e ETFs. O τ de 0,30% é o custo de uma operação de ida e volta; abaixo disso, ficar parado é a decisão certa. Testamos também τ de 0,1% a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Leonardo apresenta. O HAR é o benchmark da literatura (Corsi, 2009): uma regressão sobre a volatilidade de 1, 7 e 30 dias. Ele explica cerca de 28% da variação da volatilidade da semana seguinte em anos que nunca viu, e é melhor que o GARCH no teste de Diebold-Mariano. Somar a volatilidade da Nasdaq e das bolsas globais ajuda um pouco (melhor em 4 dos 6 anos), mas sem significância. A atenção da mídia não acrescenta nada. Lição importante: usar tudo piora muito, porque os regimes mudam entre os anos (juro zero → juro alto, varejo → ETFs) e muitas variáveis viram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Julio apresenta. Testamos regressão logística e LightGBM com quatro conjuntos de features: só BTC, BTC + mercado, só notícias e tudo. O melhor modelo fica levemente acima de uma moeda, e por pouco. O intervalo de confiança vem de um bootstrap em blocos de 30 dias, que preserva a dependência temporal. A ablação é o teste direto da tese: somar as notícias ao modelo de mercado não melhora a AUC nos dois algoritmos. O LightGBM até atribui cerca de 39% da importância às notícias, mas isso é ajuste ao ruído do treino, sem ganho fora da amostra. Isso confirma o que o estudo de eventos mostrou.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Victor apresenta. Estratégias que compram ou ficam fora, decididas no fechamento de t, com custo de 0,15% por unidade negociada (taxa mais slippage de um lado). O alvo de volatilidade usa a previsão do HAR-X para reduzir a posição quando a volatilidade prevista sobe (alvo de 50% ao ano); a direção usa o LightGBM. Nada supera o buy &amp; hold, que teve um período excepcional. A direção gira a posição cerca de 125 vezes por ano, e o pequeno poder preditivo não paga isso; mesmo sem custos ela fica fora do mercado em quase 60% dos dias de um período de forte alta. Seis anos de um único ativo é pouco para afirmar superioridade estatística, então o backtest é descritivo.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dos resultados. A parte estruturado → volatilidade se confirma, com um modelo simples e parcimonioso. A parte notícias → direção não se confirma com notícias diárias de mídia tradicional: Reuters, Bloomberg e CoinDesk cobrem o mercado depois que ele se move, então o índice diário chega tarde demais para dar a direção do dia seguinte. Isso é coerente com a hipótese H3 da Entrega 1 (direção do BTC quase imprevisível). Não é um fracasso do projeto: é uma resposta clara a uma pergunta 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O mais promissor é o estudo de eventos com eventos agendados: como o horário é conhecido de antemão, dá para medir a reação do preço e da volatilidade depois do evento sem o problema de a notícia ser consequência do preço. Também queremos testar o GDELT em resolução de 15 minutos e usar a volatilidade, que se mostrou previsível, para prever dias extremos, a parte da proposta original sobre padrões extremos. Pendência prática: republicar a base estruturada corrigida no HuggingFace e publicar a de notícias.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5" y="1000714"/>
            <a:ext cx="10566390" cy="40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5" y="1714480"/>
            <a:ext cx="10566425" cy="433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5" y="1000714"/>
            <a:ext cx="10566390" cy="40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5" y="1714480"/>
            <a:ext cx="10566425" cy="433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40" cy="6857954"/>
          </a:xfrm>
          <a:prstGeom prst="rect">
            <a:avLst/>
          </a:prstGeom>
          <a:solidFill>
            <a:srgbClr val="D9622B"/>
          </a:solidFill>
          <a:ln/>
        </p:spPr>
      </p:sp>
      <p:sp>
        <p:nvSpPr>
          <p:cNvPr id="3" name="Text 1"/>
          <p:cNvSpPr/>
          <p:nvPr/>
        </p:nvSpPr>
        <p:spPr>
          <a:xfrm>
            <a:off x="812775" y="812775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989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SSC0957 · PRÁTICA EM CIÊNCIA DE DADOS II · ATUALIZAÇÃO DO TRABALHO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75" y="2284790"/>
            <a:ext cx="10883382" cy="77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MADES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775" y="3234684"/>
            <a:ext cx="9156654" cy="87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Da base pronta à modelagem: correções, estudo de eventos e primeiros modelos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775" y="4291254"/>
            <a:ext cx="9156654" cy="29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 Analysis Driven by Event Studies · Bitcoin, macroeconomia e notícias (GDELT)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775" y="5816606"/>
            <a:ext cx="5770992" cy="253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Victor Silva Botelho · Leonardo Doro Demore · Julio Cesar A. A. Fuganti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78518" y="5831828"/>
            <a:ext cx="3100647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Alexandre Delbem · 29/10/2026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5"/>
            <a:ext cx="10883382" cy="23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DESDE A ENTREGA 1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998075"/>
            <a:ext cx="10883382" cy="429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Três semanas de trabalho, três etapas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59231"/>
            <a:ext cx="3380297" cy="2694702"/>
          </a:xfrm>
          <a:prstGeom prst="roundRect">
            <a:avLst>
              <a:gd name="adj" fmla="val 365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785" y="1914066"/>
            <a:ext cx="2956746" cy="23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08/10</a:t>
            </a:r>
            <a:endParaRPr lang="en-US" sz="1196" dirty="0"/>
          </a:p>
        </p:txBody>
      </p:sp>
      <p:sp>
        <p:nvSpPr>
          <p:cNvPr id="6" name="Text 4"/>
          <p:cNvSpPr/>
          <p:nvPr/>
        </p:nvSpPr>
        <p:spPr>
          <a:xfrm>
            <a:off x="1070785" y="2225791"/>
            <a:ext cx="2956746" cy="32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975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Auditoria e correções</a:t>
            </a:r>
            <a:endParaRPr lang="en-US" sz="1975" dirty="0"/>
          </a:p>
        </p:txBody>
      </p:sp>
      <p:sp>
        <p:nvSpPr>
          <p:cNvPr id="7" name="Text 5"/>
          <p:cNvSpPr/>
          <p:nvPr/>
        </p:nvSpPr>
        <p:spPr>
          <a:xfrm>
            <a:off x="1155500" y="2627650"/>
            <a:ext cx="2864410" cy="149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Vazamento nas séries macro corrigido</a:t>
            </a:r>
            <a:endParaRPr lang="en-US" sz="1383" dirty="0"/>
          </a:p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 das notícias ajustado pela fonte</a:t>
            </a:r>
            <a:endParaRPr lang="en-US" sz="1383" dirty="0"/>
          </a:p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Clusters revistos: k = 10 → 11</a:t>
            </a:r>
            <a:endParaRPr lang="en-US" sz="1383" dirty="0"/>
          </a:p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integrada em dia UTC</a:t>
            </a:r>
            <a:endParaRPr lang="en-US" sz="1383" dirty="0"/>
          </a:p>
        </p:txBody>
      </p:sp>
      <p:sp>
        <p:nvSpPr>
          <p:cNvPr id="8" name="Shape 6"/>
          <p:cNvSpPr/>
          <p:nvPr/>
        </p:nvSpPr>
        <p:spPr>
          <a:xfrm>
            <a:off x="4405759" y="1659231"/>
            <a:ext cx="3380360" cy="2694702"/>
          </a:xfrm>
          <a:prstGeom prst="roundRect">
            <a:avLst>
              <a:gd name="adj" fmla="val 365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594" y="1914066"/>
            <a:ext cx="2956810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15/10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0594" y="2228999"/>
            <a:ext cx="2956810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Análise integrada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38826" y="2635324"/>
            <a:ext cx="2870958" cy="772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Correlação defasada e Granger</a:t>
            </a:r>
            <a:endParaRPr lang="en-US" sz="1400" dirty="0"/>
          </a:p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Estudo de eventos com placebo</a:t>
            </a:r>
            <a:endParaRPr lang="en-US" sz="1400" dirty="0"/>
          </a:p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 por tema (11 clusters)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631" y="1659231"/>
            <a:ext cx="3380360" cy="2694702"/>
          </a:xfrm>
          <a:prstGeom prst="roundRect">
            <a:avLst>
              <a:gd name="adj" fmla="val 365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465" y="1914066"/>
            <a:ext cx="2956810" cy="23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22/10</a:t>
            </a:r>
            <a:endParaRPr lang="en-US" sz="1196" dirty="0"/>
          </a:p>
        </p:txBody>
      </p:sp>
      <p:sp>
        <p:nvSpPr>
          <p:cNvPr id="14" name="Text 12"/>
          <p:cNvSpPr/>
          <p:nvPr/>
        </p:nvSpPr>
        <p:spPr>
          <a:xfrm>
            <a:off x="8250465" y="2225791"/>
            <a:ext cx="2956810" cy="32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975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Modelagem baseline</a:t>
            </a:r>
            <a:endParaRPr lang="en-US" sz="1975" dirty="0"/>
          </a:p>
        </p:txBody>
      </p:sp>
      <p:sp>
        <p:nvSpPr>
          <p:cNvPr id="15" name="Text 13"/>
          <p:cNvSpPr/>
          <p:nvPr/>
        </p:nvSpPr>
        <p:spPr>
          <a:xfrm>
            <a:off x="8335181" y="2627650"/>
            <a:ext cx="2864475" cy="149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 walk-forward 2020–2025</a:t>
            </a:r>
            <a:endParaRPr lang="en-US" sz="1383" dirty="0"/>
          </a:p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Volatilidade: HAR, GARCH, HAR-X</a:t>
            </a:r>
            <a:endParaRPr lang="en-US" sz="1383" dirty="0"/>
          </a:p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Direção, com e sem notícias</a:t>
            </a:r>
            <a:endParaRPr lang="en-US" sz="1383" dirty="0"/>
          </a:p>
          <a:p>
            <a:pPr algn="l" marL="169285" indent="-169285">
              <a:lnSpc>
                <a:spcPts val="1936"/>
              </a:lnSpc>
              <a:buSzPct val="100000"/>
              <a:buChar char="•"/>
            </a:pPr>
            <a:r>
              <a:rPr lang="en-US" sz="1383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Backtest com custos</a:t>
            </a:r>
            <a:endParaRPr lang="en-US" sz="1383" dirty="0"/>
          </a:p>
        </p:txBody>
      </p:sp>
      <p:sp>
        <p:nvSpPr>
          <p:cNvPr id="16" name="Text 14"/>
          <p:cNvSpPr/>
          <p:nvPr/>
        </p:nvSpPr>
        <p:spPr>
          <a:xfrm>
            <a:off x="812775" y="4611093"/>
            <a:ext cx="10883382" cy="1256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2"/>
              </a:lnSpc>
              <a:buNone/>
            </a:pPr>
            <a:r>
              <a:rPr lang="en-US" sz="1387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Entregáveis:</a:t>
            </a:r>
            <a:endParaRPr lang="en-US" sz="1387" dirty="0"/>
          </a:p>
          <a:p>
            <a:pPr algn="l" marL="254000" indent="-169318">
              <a:lnSpc>
                <a:spcPts val="1942"/>
              </a:lnSpc>
              <a:buSzPct val="100000"/>
              <a:buChar char="•"/>
            </a:pPr>
            <a:r>
              <a:rPr lang="en-US" sz="1387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scripts novos e o pacote </a:t>
            </a:r>
            <a:r>
              <a:rPr lang="en-US" sz="1387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modeling/</a:t>
            </a:r>
            <a:endParaRPr lang="en-US" sz="1387" dirty="0"/>
          </a:p>
          <a:p>
            <a:pPr algn="l" marL="254000" indent="-169318">
              <a:lnSpc>
                <a:spcPts val="1942"/>
              </a:lnSpc>
              <a:buSzPct val="100000"/>
              <a:buChar char="•"/>
            </a:pPr>
            <a:r>
              <a:rPr lang="en-US" sz="1387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notebooks executados</a:t>
            </a:r>
            <a:endParaRPr lang="en-US" sz="1387" dirty="0"/>
          </a:p>
          <a:p>
            <a:pPr algn="l" marL="254000" indent="-169318">
              <a:lnSpc>
                <a:spcPts val="1942"/>
              </a:lnSpc>
              <a:buSzPct val="100000"/>
              <a:buChar char="•"/>
            </a:pPr>
            <a:r>
              <a:rPr lang="en-US" sz="1387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pipeline2.md</a:t>
            </a:r>
            <a:r>
              <a:rPr lang="en-US" sz="1387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20 decisões justificadas</a:t>
            </a:r>
            <a:endParaRPr lang="en-US" sz="1387" dirty="0"/>
          </a:p>
          <a:p>
            <a:pPr algn="l" marL="254000" indent="-169318">
              <a:lnSpc>
                <a:spcPts val="1942"/>
              </a:lnSpc>
              <a:buSzPct val="100000"/>
              <a:buChar char="•"/>
            </a:pPr>
            <a:r>
              <a:rPr lang="en-US" sz="1387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Relatório preenchido até 22/10</a:t>
            </a:r>
            <a:endParaRPr lang="en-US" sz="1387" dirty="0"/>
          </a:p>
        </p:txBody>
      </p:sp>
      <p:sp>
        <p:nvSpPr>
          <p:cNvPr id="17" name="Text 15"/>
          <p:cNvSpPr/>
          <p:nvPr/>
        </p:nvSpPr>
        <p:spPr>
          <a:xfrm>
            <a:off x="812775" y="6238215"/>
            <a:ext cx="268174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MADES · Atualização do trabalho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36911" y="6238215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5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989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PERGUNTA DESTA ETAPA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7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tese que levamos para os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75" y="1765249"/>
            <a:ext cx="10566390" cy="1264701"/>
          </a:xfrm>
          <a:prstGeom prst="roundRect">
            <a:avLst>
              <a:gd name="adj" fmla="val 8034"/>
            </a:avLst>
          </a:prstGeom>
          <a:solidFill>
            <a:srgbClr val="1E2D4F"/>
          </a:solidFill>
          <a:ln/>
        </p:spPr>
      </p:sp>
      <p:sp>
        <p:nvSpPr>
          <p:cNvPr id="5" name="Text 3"/>
          <p:cNvSpPr/>
          <p:nvPr/>
        </p:nvSpPr>
        <p:spPr>
          <a:xfrm>
            <a:off x="1117519" y="2148678"/>
            <a:ext cx="4970733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Dados estruturados</a:t>
            </a:r>
            <a:endParaRPr lang="en-US" sz="28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6248216" y="2245227"/>
            <a:ext cx="609550" cy="3047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62509" y="2069991"/>
            <a:ext cx="4029270" cy="38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Volatilidade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62509" y="2476317"/>
            <a:ext cx="40292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quanto o BTC vai oscilar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2775" y="3233111"/>
            <a:ext cx="10566390" cy="1264701"/>
          </a:xfrm>
          <a:prstGeom prst="roundRect">
            <a:avLst>
              <a:gd name="adj" fmla="val 8034"/>
            </a:avLst>
          </a:prstGeom>
          <a:solidFill>
            <a:srgbClr val="1E2D4F"/>
          </a:solidFill>
          <a:ln/>
        </p:spPr>
      </p:sp>
      <p:sp>
        <p:nvSpPr>
          <p:cNvPr id="10" name="Text 7"/>
          <p:cNvSpPr/>
          <p:nvPr/>
        </p:nvSpPr>
        <p:spPr>
          <a:xfrm>
            <a:off x="1117519" y="3616542"/>
            <a:ext cx="4970733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Notícias (GDELT)</a:t>
            </a:r>
            <a:endParaRPr lang="en-US" sz="28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6248216" y="3713091"/>
            <a:ext cx="609550" cy="3047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62509" y="3537855"/>
            <a:ext cx="4029270" cy="38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Direção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162509" y="3944179"/>
            <a:ext cx="40292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onde o BTC vai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2775" y="4853378"/>
            <a:ext cx="9810728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vez de assumir a tese, testamos cada metade fora da amostra. Antes disso, auditamos as bases: um modelo que usa o futuro sem querer "confirma" qualquer tese.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2775" y="6238216"/>
            <a:ext cx="268174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MADES · Atualização do trabalho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236911" y="6238216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CORREÇÃO 1 · VAZAMENTO DE DADOS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6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CPI entrava na base antes de existir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75" y="1612844"/>
            <a:ext cx="10464738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FRED data o dado mensal pelo </a:t>
            </a:r>
            <a:r>
              <a:rPr lang="en-US" sz="14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início do mês de referência</a:t>
            </a: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Com o forward fill, o CPI de janeiro aparecia em 01/01, mas só é divulgado por volta de 15/02.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50" y="2316961"/>
            <a:ext cx="10560040" cy="2554313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6" name="Image 0" descr="CPI dos EUA na base diária de out/2021 a dez/2022: em vermelho a versão antiga, que muda no dia 1º de cada mês; em azul a corrigida, que muda cerca de 45 dias depois">    </p:cNvPr>
          <p:cNvPicPr>
            <a:picLocks noChangeAspect="1"/>
          </p:cNvPicPr>
          <p:nvPr/>
        </p:nvPicPr>
        <p:blipFill>
          <a:blip r:embed="rId1"/>
          <a:srcRect l="0" r="0" t="-16" b="-16"/>
          <a:stretch/>
        </p:blipFill>
        <p:spPr>
          <a:xfrm>
            <a:off x="2158993" y="2419393"/>
            <a:ext cx="7873955" cy="2349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75" y="5077611"/>
            <a:ext cx="3420549" cy="502874"/>
          </a:xfrm>
          <a:prstGeom prst="roundRect">
            <a:avLst>
              <a:gd name="adj" fmla="val 15153"/>
            </a:avLst>
          </a:prstGeom>
          <a:solidFill>
            <a:srgbClr val="E8E4D9"/>
          </a:solidFill>
          <a:ln/>
        </p:spPr>
        <p:txBody>
          <a:bodyPr wrap="square" lIns="155482" tIns="104682" rIns="63533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 dias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CPI dos EUA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5664" y="5077611"/>
            <a:ext cx="3420612" cy="502874"/>
          </a:xfrm>
          <a:prstGeom prst="roundRect">
            <a:avLst>
              <a:gd name="adj" fmla="val 15153"/>
            </a:avLst>
          </a:prstGeom>
          <a:solidFill>
            <a:srgbClr val="E8E4D9"/>
          </a:solidFill>
          <a:ln/>
        </p:spPr>
        <p:txBody>
          <a:bodyPr wrap="square" lIns="155482" tIns="104682" rIns="63531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 dias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demais CPIs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58617" y="5077611"/>
            <a:ext cx="3420549" cy="502874"/>
          </a:xfrm>
          <a:prstGeom prst="roundRect">
            <a:avLst>
              <a:gd name="adj" fmla="val 15153"/>
            </a:avLst>
          </a:prstGeom>
          <a:solidFill>
            <a:srgbClr val="E8E4D9"/>
          </a:solidFill>
          <a:ln/>
        </p:spPr>
        <p:txBody>
          <a:bodyPr wrap="square" lIns="155482" tIns="104682" rIns="63533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32–35 dias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juros mensais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775" y="6238215"/>
            <a:ext cx="5344389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integrated_eda.ipynb §1 · config.py (PUBLICATION_LAGS)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36911" y="6238215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CORREÇÃO 2 · VIÉS DE COMPOSIÇÃO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7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Cada fonte tem um tom de base diferente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22"/>
            <a:ext cx="10560040" cy="2598782"/>
          </a:xfrm>
          <a:prstGeom prst="roundRect">
            <a:avLst>
              <a:gd name="adj" fmla="val 3787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À esquerda, a participação de cada fonte nas notícias por ano, de 2017 a 2026, mudando muito; à direita, o tom médio por fonte: Bloomberg e Reuters mais negativas, CoinDesk e Cointelegraph menos">    </p:cNvPr>
          <p:cNvPicPr>
            <a:picLocks noChangeAspect="1"/>
          </p:cNvPicPr>
          <p:nvPr/>
        </p:nvPicPr>
        <p:blipFill>
          <a:blip r:embed="rId1"/>
          <a:srcRect l="0" r="0" t="-41" b="-41"/>
          <a:stretch/>
        </p:blipFill>
        <p:spPr>
          <a:xfrm>
            <a:off x="1968473" y="1718453"/>
            <a:ext cx="8254995" cy="23939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50" y="4424316"/>
            <a:ext cx="5175233" cy="1169916"/>
          </a:xfrm>
          <a:prstGeom prst="roundRect">
            <a:avLst>
              <a:gd name="adj" fmla="val 841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0785" y="4628328"/>
            <a:ext cx="4805530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0785" y="4892439"/>
            <a:ext cx="4805530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Bloomberg −1,7 vs. CoinDesk −0,5, e a mistura muda entre os anos: o tom bruto media </a:t>
            </a:r>
            <a:r>
              <a:rPr lang="en-US" sz="14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publicou</a:t>
            </a: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0695" y="4424316"/>
            <a:ext cx="5175295" cy="1169916"/>
          </a:xfrm>
          <a:prstGeom prst="roundRect">
            <a:avLst>
              <a:gd name="adj" fmla="val 841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55530" y="4628328"/>
            <a:ext cx="480559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55530" y="4892439"/>
            <a:ext cx="4805594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 ajustado</a:t>
            </a: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tom − média histórica da fonte, calculada só com notícias anteriores.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775" y="6238218"/>
            <a:ext cx="5256080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news_processing.ipynb §1 · 79.186 notícias, 2017–2026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36911" y="6238218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CORREÇÃO 3 · NÚMERO DE CLUSTERS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4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k = 10 era um corte instável; agora k = 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19"/>
            <a:ext cx="10560040" cy="2725774"/>
          </a:xfrm>
          <a:prstGeom prst="roundRect">
            <a:avLst>
              <a:gd name="adj" fmla="val 3611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Três painéis para k de 4 a 20: o Silhouette sobe sem parar; a estabilidade no bootstrap (ARI) tem uma queda em k = 10 e um pico em k = 11; o salto no dendrograma em k = 10 é quase zero">    </p:cNvPr>
          <p:cNvPicPr>
            <a:picLocks noChangeAspect="1"/>
          </p:cNvPicPr>
          <p:nvPr/>
        </p:nvPicPr>
        <p:blipFill>
          <a:blip r:embed="rId1"/>
          <a:srcRect l="0" r="0" t="-13" b="-13"/>
          <a:stretch/>
        </p:blipFill>
        <p:spPr>
          <a:xfrm>
            <a:off x="1142992" y="1718450"/>
            <a:ext cx="9905955" cy="25209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75" y="4548132"/>
            <a:ext cx="352316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775" y="4812243"/>
            <a:ext cx="3523165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Silhouette cresce até k = 60: não tem máximo, não serve para escolher 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5664" y="4548132"/>
            <a:ext cx="3523230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Critério novo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5664" y="4812243"/>
            <a:ext cx="3523230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Maior k com ARI ≥ 0,90 em 40 bootstraps; repete-se com outras sementes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8617" y="4548132"/>
            <a:ext cx="352316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8617" y="4812243"/>
            <a:ext cx="3523165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temas claros: regulação, política monetária, mineração e energia…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775" y="6238215"/>
            <a:ext cx="525117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news_processing.ipynb §3 · nlp_processing.py (select_k)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36911" y="6238215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NOVAS IMPLEMENTAÇÕES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7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Um pipeline reprodutível, de ponta a ponta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19"/>
            <a:ext cx="3414199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4552" y="1820032"/>
            <a:ext cx="314870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struc_data_processing.py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4552" y="2084143"/>
            <a:ext cx="3148705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 · Base corrigida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94552" y="2439646"/>
            <a:ext cx="3148705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Defasagem de publicação e download do HuggingFace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8839" y="1616019"/>
            <a:ext cx="3414199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7441" y="1820032"/>
            <a:ext cx="314870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nlp_processing.py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67441" y="2084143"/>
            <a:ext cx="3148705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 · Notícias diárias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67441" y="2439646"/>
            <a:ext cx="3148705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 ajustado, 11 clusters e agregação por dia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61729" y="1616019"/>
            <a:ext cx="3414199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0330" y="1820032"/>
            <a:ext cx="314870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40330" y="2084143"/>
            <a:ext cx="3148705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 · Integração UTC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40330" y="2439646"/>
            <a:ext cx="3148705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3.650 dias × 74 colunas no calendário do BTC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50" y="3300130"/>
            <a:ext cx="3414199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552" y="3504143"/>
            <a:ext cx="314870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modeling/features.py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4552" y="3768254"/>
            <a:ext cx="3148705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 · Features e alvos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4552" y="4123754"/>
            <a:ext cx="3148705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120+ features que só usam o que se sabia em 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8839" y="3300130"/>
            <a:ext cx="3414199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7441" y="3504143"/>
            <a:ext cx="314870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modeling/event_study.py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7441" y="3768254"/>
            <a:ext cx="3148705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5 · Estudo de eventos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67441" y="4123754"/>
            <a:ext cx="323242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Retorno anormal, CAR e teste placebo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61729" y="3300130"/>
            <a:ext cx="3414199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0330" y="3504143"/>
            <a:ext cx="314870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modeling/models.py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40330" y="3768254"/>
            <a:ext cx="3148705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6 · Modelos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40330" y="4123754"/>
            <a:ext cx="3148705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Walk-forward, Diebold-Mariano e custos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775" y="5031885"/>
            <a:ext cx="10883382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Alinhamento:</a:t>
            </a: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candle do BTC e o GDELT estão em UTC, e todas as bolsas fecham antes das 24h UTC. A linha do dia t só tem o que já se sabia em 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775" y="6238215"/>
            <a:ext cx="5139088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main.py roda as etapas 1 a 3 · análises em 3 notebooks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36911" y="6238215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 INTEGRADA · O SENTIMENTO ANTECIPA O PREÇO?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4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tom acompanha o preço de ontem, não o de amanhã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19"/>
            <a:ext cx="10560040" cy="2681305"/>
          </a:xfrm>
          <a:prstGeom prst="roundRect">
            <a:avLst>
              <a:gd name="adj" fmla="val 3671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Correlação de Spearman entre o tom do dia t e o retorno do BTC em t + k, para k de −10 a +10: as barras significativas estão em k ≤ 0; em k = +1 a correlação é quase zero. À direita, o mesmo para número de notícias e |retorno|">    </p:cNvPr>
          <p:cNvPicPr>
            <a:picLocks noChangeAspect="1"/>
          </p:cNvPicPr>
          <p:nvPr/>
        </p:nvPicPr>
        <p:blipFill>
          <a:blip r:embed="rId1"/>
          <a:srcRect l="0" r="0" t="-48" b="-48"/>
          <a:stretch/>
        </p:blipFill>
        <p:spPr>
          <a:xfrm>
            <a:off x="1650961" y="1718450"/>
            <a:ext cx="8889955" cy="247644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852" y="4515740"/>
          <a:ext cx="10554313" cy="1156138"/>
        </p:xfrm>
        <a:graphic>
          <a:graphicData uri="http://schemas.openxmlformats.org/drawingml/2006/table">
            <a:tbl>
              <a:tblPr/>
              <a:tblGrid>
                <a:gridCol w="4221725"/>
                <a:gridCol w="3166294"/>
                <a:gridCol w="3166294"/>
              </a:tblGrid>
              <a:tr h="38537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Causalidade de Granger (1 a 7 dias)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p-valor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Leitura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8537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tom → retorno do BTC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0,28 a 0,74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 significativo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37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retorno do BTC → tom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&lt; 0,001 em todas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preço vem primeiro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12775" y="6238211"/>
            <a:ext cx="669024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integrated_eda.ipynb §3 (H11, H12) · 2017–2025, tom ajustado pela fonte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236911" y="6238211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ESTUDO DE EVENTOS · CHOQUES DE SENTIMENTO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20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preço se move antes da notícia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25"/>
            <a:ext cx="10560040" cy="2802007"/>
          </a:xfrm>
          <a:prstGeom prst="roundRect">
            <a:avLst>
              <a:gd name="adj" fmla="val 3513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Retorno anormal acumulado médio de 5 dias antes a 10 dias depois do evento. À esquerda, 58 choques negativos de tom: o CAR cai antes do evento. À direita, 31 choques positivos: o CAR sobe cerca de 5% até o dia do evento e fica estável depois">    </p:cNvPr>
          <p:cNvPicPr>
            <a:picLocks noChangeAspect="1"/>
          </p:cNvPicPr>
          <p:nvPr/>
        </p:nvPicPr>
        <p:blipFill>
          <a:blip r:embed="rId1"/>
          <a:srcRect l="-53" r="-53" t="0" b="0"/>
          <a:stretch/>
        </p:blipFill>
        <p:spPr>
          <a:xfrm>
            <a:off x="1650961" y="1718456"/>
            <a:ext cx="8889955" cy="2597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75" y="4624369"/>
            <a:ext cx="3488246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A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+4,3%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775" y="5147556"/>
            <a:ext cx="3488246" cy="45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nos 5 dias </a:t>
            </a: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dos choques positivos · placebo p = 0,004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02584" y="4624369"/>
            <a:ext cx="348831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A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−2,2%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402584" y="5147556"/>
            <a:ext cx="3488311" cy="45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nos 5 dias </a:t>
            </a: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dos choques negativos · placebo p = 0,056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92456" y="4624369"/>
            <a:ext cx="348831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≈ 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992456" y="5147556"/>
            <a:ext cx="3488311" cy="45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evento, nos dois casos · sem significância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775" y="6238218"/>
            <a:ext cx="716160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Evento: tom a mais de 2σ da média dos 90 dias anteriores · modelo de média constante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36911" y="6238218"/>
            <a:ext cx="142254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MODELAGEM · COMO VALIDAMOS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4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Cada ano de teste só vê o passado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09700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24056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38412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52769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67125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81481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95837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10193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24550" y="1612844"/>
            <a:ext cx="96515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775" y="1922686"/>
            <a:ext cx="132078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2020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35100" y="1902365"/>
            <a:ext cx="2692372" cy="253984"/>
          </a:xfrm>
          <a:prstGeom prst="roundRect">
            <a:avLst>
              <a:gd name="adj" fmla="val 15001"/>
            </a:avLst>
          </a:prstGeom>
          <a:solidFill>
            <a:srgbClr val="1F5FA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78231" y="1902365"/>
            <a:ext cx="863597" cy="253984"/>
          </a:xfrm>
          <a:prstGeom prst="roundRect">
            <a:avLst>
              <a:gd name="adj" fmla="val 15001"/>
            </a:avLst>
          </a:prstGeom>
          <a:solidFill>
            <a:srgbClr val="D96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75" y="2252836"/>
            <a:ext cx="132078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2021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35100" y="2232521"/>
            <a:ext cx="3606791" cy="253984"/>
          </a:xfrm>
          <a:prstGeom prst="roundRect">
            <a:avLst>
              <a:gd name="adj" fmla="val 15001"/>
            </a:avLst>
          </a:prstGeom>
          <a:solidFill>
            <a:srgbClr val="1F5FAE"/>
          </a:solidFill>
          <a:ln/>
        </p:spPr>
      </p:sp>
      <p:sp>
        <p:nvSpPr>
          <p:cNvPr id="18" name="Shape 16"/>
          <p:cNvSpPr/>
          <p:nvPr/>
        </p:nvSpPr>
        <p:spPr>
          <a:xfrm>
            <a:off x="5892650" y="2232521"/>
            <a:ext cx="863597" cy="253984"/>
          </a:xfrm>
          <a:prstGeom prst="roundRect">
            <a:avLst>
              <a:gd name="adj" fmla="val 15001"/>
            </a:avLst>
          </a:prstGeom>
          <a:solidFill>
            <a:srgbClr val="D9622B"/>
          </a:solidFill>
          <a:ln/>
        </p:spPr>
      </p:sp>
      <p:sp>
        <p:nvSpPr>
          <p:cNvPr id="19" name="Text 17"/>
          <p:cNvSpPr/>
          <p:nvPr/>
        </p:nvSpPr>
        <p:spPr>
          <a:xfrm>
            <a:off x="812775" y="2582993"/>
            <a:ext cx="132078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2022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35100" y="2562678"/>
            <a:ext cx="4521148" cy="253984"/>
          </a:xfrm>
          <a:prstGeom prst="roundRect">
            <a:avLst>
              <a:gd name="adj" fmla="val 15001"/>
            </a:avLst>
          </a:prstGeom>
          <a:solidFill>
            <a:srgbClr val="1F5FA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7007" y="2562678"/>
            <a:ext cx="863597" cy="253984"/>
          </a:xfrm>
          <a:prstGeom prst="roundRect">
            <a:avLst>
              <a:gd name="adj" fmla="val 15001"/>
            </a:avLst>
          </a:prstGeom>
          <a:solidFill>
            <a:srgbClr val="D9622B"/>
          </a:solidFill>
          <a:ln/>
        </p:spPr>
      </p:sp>
      <p:sp>
        <p:nvSpPr>
          <p:cNvPr id="22" name="Text 20"/>
          <p:cNvSpPr/>
          <p:nvPr/>
        </p:nvSpPr>
        <p:spPr>
          <a:xfrm>
            <a:off x="812775" y="2913149"/>
            <a:ext cx="132078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2023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35100" y="2892828"/>
            <a:ext cx="5435567" cy="253984"/>
          </a:xfrm>
          <a:prstGeom prst="roundRect">
            <a:avLst>
              <a:gd name="adj" fmla="val 15001"/>
            </a:avLst>
          </a:prstGeom>
          <a:solidFill>
            <a:srgbClr val="1F5FA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21426" y="2892828"/>
            <a:ext cx="863597" cy="253984"/>
          </a:xfrm>
          <a:prstGeom prst="roundRect">
            <a:avLst>
              <a:gd name="adj" fmla="val 15001"/>
            </a:avLst>
          </a:prstGeom>
          <a:solidFill>
            <a:srgbClr val="D9622B"/>
          </a:solidFill>
          <a:ln/>
        </p:spPr>
      </p:sp>
      <p:sp>
        <p:nvSpPr>
          <p:cNvPr id="25" name="Text 23"/>
          <p:cNvSpPr/>
          <p:nvPr/>
        </p:nvSpPr>
        <p:spPr>
          <a:xfrm>
            <a:off x="812775" y="3243300"/>
            <a:ext cx="132078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2024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35100" y="3222985"/>
            <a:ext cx="6349986" cy="253984"/>
          </a:xfrm>
          <a:prstGeom prst="roundRect">
            <a:avLst>
              <a:gd name="adj" fmla="val 15001"/>
            </a:avLst>
          </a:prstGeom>
          <a:solidFill>
            <a:srgbClr val="1F5FAE"/>
          </a:solidFill>
          <a:ln/>
        </p:spPr>
      </p:sp>
      <p:sp>
        <p:nvSpPr>
          <p:cNvPr id="27" name="Shape 25"/>
          <p:cNvSpPr/>
          <p:nvPr/>
        </p:nvSpPr>
        <p:spPr>
          <a:xfrm>
            <a:off x="8635845" y="3222985"/>
            <a:ext cx="863597" cy="253984"/>
          </a:xfrm>
          <a:prstGeom prst="roundRect">
            <a:avLst>
              <a:gd name="adj" fmla="val 15001"/>
            </a:avLst>
          </a:prstGeom>
          <a:solidFill>
            <a:srgbClr val="D9622B"/>
          </a:solidFill>
          <a:ln/>
        </p:spPr>
      </p:sp>
      <p:sp>
        <p:nvSpPr>
          <p:cNvPr id="28" name="Text 26"/>
          <p:cNvSpPr/>
          <p:nvPr/>
        </p:nvSpPr>
        <p:spPr>
          <a:xfrm>
            <a:off x="812775" y="3573456"/>
            <a:ext cx="132078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2025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35100" y="3553141"/>
            <a:ext cx="7264342" cy="253984"/>
          </a:xfrm>
          <a:prstGeom prst="roundRect">
            <a:avLst>
              <a:gd name="adj" fmla="val 15001"/>
            </a:avLst>
          </a:prstGeom>
          <a:solidFill>
            <a:srgbClr val="1F5FAE"/>
          </a:solidFill>
          <a:ln/>
        </p:spPr>
      </p:sp>
      <p:sp>
        <p:nvSpPr>
          <p:cNvPr id="30" name="Shape 28"/>
          <p:cNvSpPr/>
          <p:nvPr/>
        </p:nvSpPr>
        <p:spPr>
          <a:xfrm>
            <a:off x="9550202" y="3553141"/>
            <a:ext cx="863597" cy="253984"/>
          </a:xfrm>
          <a:prstGeom prst="roundRect">
            <a:avLst>
              <a:gd name="adj" fmla="val 15001"/>
            </a:avLst>
          </a:prstGeom>
          <a:solidFill>
            <a:srgbClr val="D962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5922" y="3913801"/>
            <a:ext cx="203162" cy="152340"/>
          </a:xfrm>
          <a:prstGeom prst="roundRect">
            <a:avLst>
              <a:gd name="adj" fmla="val 16673"/>
            </a:avLst>
          </a:prstGeom>
          <a:solidFill>
            <a:srgbClr val="1F5FAE"/>
          </a:solidFill>
          <a:ln/>
        </p:spPr>
      </p:sp>
      <p:sp>
        <p:nvSpPr>
          <p:cNvPr id="32" name="Text 30"/>
          <p:cNvSpPr/>
          <p:nvPr/>
        </p:nvSpPr>
        <p:spPr>
          <a:xfrm>
            <a:off x="2565254" y="3883292"/>
            <a:ext cx="188211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 (janela expansiva)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47368" y="3913801"/>
            <a:ext cx="203162" cy="152340"/>
          </a:xfrm>
          <a:prstGeom prst="roundRect">
            <a:avLst>
              <a:gd name="adj" fmla="val 16673"/>
            </a:avLst>
          </a:prstGeom>
          <a:solidFill>
            <a:srgbClr val="D9622B"/>
          </a:solidFill>
          <a:ln/>
        </p:spPr>
      </p:sp>
      <p:sp>
        <p:nvSpPr>
          <p:cNvPr id="34" name="Text 32"/>
          <p:cNvSpPr/>
          <p:nvPr/>
        </p:nvSpPr>
        <p:spPr>
          <a:xfrm>
            <a:off x="4726700" y="3883292"/>
            <a:ext cx="41543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76056" y="3883292"/>
            <a:ext cx="271027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embargo de 7 dias entre os dois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5950" y="4302981"/>
            <a:ext cx="3414199" cy="1055566"/>
          </a:xfrm>
          <a:prstGeom prst="roundRect">
            <a:avLst>
              <a:gd name="adj" fmla="val 9324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9963" y="4456175"/>
            <a:ext cx="3096358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Volatilidade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19963" y="4707582"/>
            <a:ext cx="3096358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da vol. realizada dos próximos 7 dias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88839" y="4302981"/>
            <a:ext cx="3414262" cy="1055566"/>
          </a:xfrm>
          <a:prstGeom prst="roundRect">
            <a:avLst>
              <a:gd name="adj" fmla="val 9324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2852" y="4456175"/>
            <a:ext cx="309642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Direção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92852" y="4707582"/>
            <a:ext cx="320707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retorno de t+1 positivo? Métrica: AUC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961792" y="4302981"/>
            <a:ext cx="3414199" cy="1055566"/>
          </a:xfrm>
          <a:prstGeom prst="roundRect">
            <a:avLst>
              <a:gd name="adj" fmla="val 9324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65804" y="4456175"/>
            <a:ext cx="3096358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Compra / manter / venda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65804" y="4707582"/>
            <a:ext cx="3096358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τ = 0,30% = 2 × (0,10% taxa + 0,05% slippage)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2775" y="6238218"/>
            <a:ext cx="7240101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modeling/models.py (walk_forward_splits) · modeling/features.py (build_targets)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145519" y="6238218"/>
            <a:ext cx="23364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MODELAGEM · VOLATILIDADE DOS PRÓXIMOS 7 DIAS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4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volatilidade é previsível com poucas variáveis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19"/>
            <a:ext cx="6554850" cy="3417910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Mapa de calor do R² fora da amostra por ano de 2020 a 2025 para cada modelo: o HAR e os HAR-X parcimoniosos são positivos em todos os anos; o HAR-X com todas as features fica muito negativo de 2020 a 2022">    </p:cNvPr>
          <p:cNvPicPr>
            <a:picLocks noChangeAspect="1"/>
          </p:cNvPicPr>
          <p:nvPr/>
        </p:nvPicPr>
        <p:blipFill>
          <a:blip r:embed="rId1"/>
          <a:srcRect l="-28" r="-28" t="0" b="0"/>
          <a:stretch/>
        </p:blipFill>
        <p:spPr>
          <a:xfrm>
            <a:off x="918382" y="1718450"/>
            <a:ext cx="6349986" cy="3213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78718" y="1612844"/>
            <a:ext cx="381146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A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0,28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78718" y="2136031"/>
            <a:ext cx="3811461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R² do HAR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fora da amostra, positivo nos 6 anos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78718" y="2527139"/>
            <a:ext cx="381146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0,14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678718" y="3050325"/>
            <a:ext cx="3811461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GARCH(1,1)-t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pior que o HAR (DM p &lt; 0,001)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78718" y="3441427"/>
            <a:ext cx="381146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A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0,295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678718" y="3964620"/>
            <a:ext cx="3811461" cy="45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 + vol. de mercado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ganho pequeno, não significativo (p ≈ 0,18)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78718" y="4569073"/>
            <a:ext cx="381146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0501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−2,2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678718" y="5092266"/>
            <a:ext cx="3811461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todas as 120+ features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sobreajuste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775" y="6238211"/>
            <a:ext cx="7137149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modeling_baseline.ipynb §2 · atenção da mídia no HAR-X: R² 0,280 (sem ganho)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45519" y="6238211"/>
            <a:ext cx="23364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200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MODELAGEM · DIREÇÃO DO DIA SEGUINTE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20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Direção: quase uma moeda, e as notícias não ajudam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25"/>
            <a:ext cx="6554850" cy="2998817"/>
          </a:xfrm>
          <a:prstGeom prst="roundRect">
            <a:avLst>
              <a:gd name="adj" fmla="val 3282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AUC fora da amostra de 2020 a 2025 com intervalo de 95% para cada modelo: todos entre 0,47 e 0,53, em torno da linha de 0,5; o modelo só com notícias no LightGBM fica abaixo de 0,5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918382" y="1718456"/>
            <a:ext cx="6349986" cy="27939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78718" y="1612850"/>
            <a:ext cx="381146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A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0,53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78718" y="2136037"/>
            <a:ext cx="3811461" cy="45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Melhor AUC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(BTC + mercado) · IC 95%: 0,505 a 0,549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78718" y="2740490"/>
            <a:ext cx="381146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0,50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678718" y="3263683"/>
            <a:ext cx="3811461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com notícias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igual a uma moeda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78718" y="3654785"/>
            <a:ext cx="3811461" cy="5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0501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≤ 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678718" y="4177978"/>
            <a:ext cx="3811461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Ganho de AUC ao somar notícias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−0,002 e −0,018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775" y="4821175"/>
            <a:ext cx="108833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Compra / manter / venda: acurácia balanceada de 0,37 a 0,39, contra 0,333 do acaso, para τ entre 0,1% e 1%.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775" y="6238218"/>
            <a:ext cx="616370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modeling_baseline.ipynb §3 · IC por bootstrap em blocos de 30 dias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45519" y="6238218"/>
            <a:ext cx="23364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BACKTEST 2020–2025 · DIREÇÃO × VOLATILIDADE, COM CUSTOS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4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Nenhuma estratégia supera o buy &amp; hold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16019"/>
            <a:ext cx="6808833" cy="2516259"/>
          </a:xfrm>
          <a:prstGeom prst="roundRect">
            <a:avLst>
              <a:gd name="adj" fmla="val 3912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Patrimônio acumulado de 2020 a 2025 em escala log: buy and hold termina em cerca de 12 vezes, alvo de volatilidade em cerca de 7,6 vezes, direção sem custos em cerca de 2 vezes e as estratégias de direção com custos abaixo de 1">    </p:cNvPr>
          <p:cNvPicPr>
            <a:picLocks noChangeAspect="1"/>
          </p:cNvPicPr>
          <p:nvPr/>
        </p:nvPicPr>
        <p:blipFill>
          <a:blip r:embed="rId1"/>
          <a:srcRect l="0" r="0" t="-41" b="-41"/>
          <a:stretch/>
        </p:blipFill>
        <p:spPr>
          <a:xfrm>
            <a:off x="918382" y="1718450"/>
            <a:ext cx="6603971" cy="231139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44778" y="1624921"/>
          <a:ext cx="3434387" cy="1992626"/>
        </p:xfrm>
        <a:graphic>
          <a:graphicData uri="http://schemas.openxmlformats.org/drawingml/2006/table">
            <a:tbl>
              <a:tblPr/>
              <a:tblGrid>
                <a:gridCol w="2060632"/>
                <a:gridCol w="1373755"/>
              </a:tblGrid>
              <a:tr h="33210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Estratégia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Sharpe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3210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Buy &amp; hold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Alvo de vol.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Direção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Direção sem custos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Direção + notícias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−0,07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15950" y="4341794"/>
            <a:ext cx="5200643" cy="1055566"/>
          </a:xfrm>
          <a:prstGeom prst="roundRect">
            <a:avLst>
              <a:gd name="adj" fmla="val 9324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19963" y="4494981"/>
            <a:ext cx="493639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Direção perde para os custos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19963" y="4746389"/>
            <a:ext cx="4936396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~125 trocas por ano: −7% a.a. com custos, +12% sem, contra +52% do buy &amp; hold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75284" y="4341794"/>
            <a:ext cx="5200707" cy="1055566"/>
          </a:xfrm>
          <a:prstGeom prst="roundRect">
            <a:avLst>
              <a:gd name="adj" fmla="val 9324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79297" y="4494981"/>
            <a:ext cx="4936461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alvo de volatilidade reduz risco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379297" y="4746389"/>
            <a:ext cx="49935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Vol. da carteira cai de 61% para 54%, com Sharpe parecido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12775" y="6238218"/>
            <a:ext cx="585160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Long/flat · custo de 0,15% por unidade negociada · resultado descritivo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145519" y="6238218"/>
            <a:ext cx="23364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989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4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Metade da tese se confirmou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75" y="1612844"/>
            <a:ext cx="10566390" cy="1427294"/>
          </a:xfrm>
          <a:prstGeom prst="roundRect">
            <a:avLst>
              <a:gd name="adj" fmla="val 7118"/>
            </a:avLst>
          </a:prstGeom>
          <a:solidFill>
            <a:srgbClr val="1E2D4F"/>
          </a:solidFill>
          <a:ln/>
        </p:spPr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519" y="2097918"/>
            <a:ext cx="457147" cy="4571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649" y="1866826"/>
            <a:ext cx="952314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B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8649" y="2130940"/>
            <a:ext cx="9523145" cy="38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Dados estruturados → volatilidade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649" y="2537265"/>
            <a:ext cx="952314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 com R² ≈ 0,28 fora da amostra; o histórico do próprio BTC carrega quase toda a informação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2775" y="3192475"/>
            <a:ext cx="10566390" cy="1427294"/>
          </a:xfrm>
          <a:prstGeom prst="roundRect">
            <a:avLst>
              <a:gd name="adj" fmla="val 7118"/>
            </a:avLst>
          </a:prstGeom>
          <a:solidFill>
            <a:srgbClr val="1E2D4F"/>
          </a:solidFill>
          <a:ln/>
        </p:spPr>
      </p:sp>
      <p:pic>
        <p:nvPicPr>
          <p:cNvPr id="10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7519" y="3677549"/>
            <a:ext cx="457147" cy="4571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649" y="3446463"/>
            <a:ext cx="9523145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989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CONFIRMADA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828649" y="3710570"/>
            <a:ext cx="9523145" cy="38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Notícias diárias (GDELT) → direção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828649" y="4116896"/>
            <a:ext cx="952314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tom reage ao preço (Granger, estudo de eventos) e não melhora nenhum modelo fora da amostra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2775" y="4822937"/>
            <a:ext cx="9810728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resultado negativo, mas rigoroso: três evidências independentes, uma ablação fora da amostra e uma base auditada contra vazamento.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2775" y="6238211"/>
            <a:ext cx="268174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MADES · Atualização do trabalho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145519" y="6238211"/>
            <a:ext cx="23364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5" y="711194"/>
            <a:ext cx="10883382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5" y="1000714"/>
            <a:ext cx="10883382" cy="43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Onde buscar sinal a partir daqui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0" y="1666838"/>
            <a:ext cx="5200643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785" y="1870850"/>
            <a:ext cx="483170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0785" y="2134964"/>
            <a:ext cx="4831703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Eventos agendados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0785" y="2490465"/>
            <a:ext cx="4831703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FOMC, divulgação do CPI, ETFs: o horário é conhecido antes, então não há causalidade reversa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5284" y="1666838"/>
            <a:ext cx="5200707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119" y="1870850"/>
            <a:ext cx="4831768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30119" y="2134964"/>
            <a:ext cx="4831768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GDELT intradiário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30119" y="2490465"/>
            <a:ext cx="4831768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Resolução de 15 minutos: a notícia antecede o preço em horas, o que o dia esconde?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50" y="3350946"/>
            <a:ext cx="5200643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0785" y="3554958"/>
            <a:ext cx="4831703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0785" y="3819072"/>
            <a:ext cx="4831703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Dias extremos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0785" y="4174573"/>
            <a:ext cx="4831703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Prever |retorno| &gt; 3σ e regimes de estresse, retomando a ideia de RBM/BAM da proposta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5284" y="3350946"/>
            <a:ext cx="5200707" cy="1525418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0119" y="3554958"/>
            <a:ext cx="4831768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0119" y="3819072"/>
            <a:ext cx="4831768" cy="33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Republicar as bases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0119" y="4174573"/>
            <a:ext cx="4831768" cy="523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HuggingFace: base estruturada com a defasagem e a base diária de notícias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775" y="6238211"/>
            <a:ext cx="3133178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Decisões e justificativas: pipeline2.md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45519" y="6238211"/>
            <a:ext cx="233646" cy="23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DES — Atualização do trabalho">
  <a:themeElements>
    <a:clrScheme name="MADES — Atualização do trabalho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B0501F"/>
      </a:accent1>
      <a:accent2>
        <a:srgbClr val="1F5FAE"/>
      </a:accent2>
      <a:accent3>
        <a:srgbClr val="D9622B"/>
      </a:accent3>
      <a:accent4>
        <a:srgbClr val="E9895A"/>
      </a:accent4>
      <a:accent5>
        <a:srgbClr val="7FB3F0"/>
      </a:accent5>
      <a:accent6>
        <a:srgbClr val="3F4A5A"/>
      </a:accent6>
      <a:hlink>
        <a:srgbClr val="0563C1"/>
      </a:hlink>
      <a:folHlink>
        <a:srgbClr val="954F72"/>
      </a:folHlink>
    </a:clrScheme>
    <a:fontScheme name="MADES — Atualização do trabalho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MADES — Atualização do trabalho</dc:title>
  <dc:subject/>
  <dc:creator/>
  <cp:lastModifiedBy/>
  <cp:revision>1</cp:revision>
  <dcterms:created xsi:type="dcterms:W3CDTF">2026-10-29T16:41:52Z</dcterms:created>
  <dcterms:modified xsi:type="dcterms:W3CDTF">2026-10-29T16:41:52Z</dcterms:modified>
</cp:coreProperties>
</file>